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60" r:id="rId4"/>
    <p:sldId id="259" r:id="rId5"/>
    <p:sldId id="265" r:id="rId6"/>
    <p:sldId id="261" r:id="rId7"/>
    <p:sldId id="270" r:id="rId8"/>
    <p:sldId id="262" r:id="rId9"/>
    <p:sldId id="263" r:id="rId10"/>
    <p:sldId id="266" r:id="rId11"/>
    <p:sldId id="264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맑은 고딕" panose="020B0503020000020004" pitchFamily="50" charset="-127"/>
      <p:regular r:id="rId17"/>
      <p:bold r:id="rId18"/>
    </p:embeddedFont>
    <p:embeddedFont>
      <p:font typeface="Cambria Math" panose="02040503050406030204" pitchFamily="18" charset="0"/>
      <p:regular r:id="rId19"/>
    </p:embeddedFont>
    <p:embeddedFont>
      <p:font typeface="Arial Rounded MT Bold" panose="020F0704030504030204" pitchFamily="34" charset="0"/>
      <p:regular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a옛날목욕탕L" panose="02020600000000000000" pitchFamily="18" charset="-127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3" autoAdjust="0"/>
    <p:restoredTop sz="65062" autoAdjust="0"/>
  </p:normalViewPr>
  <p:slideViewPr>
    <p:cSldViewPr snapToGrid="0">
      <p:cViewPr>
        <p:scale>
          <a:sx n="50" d="100"/>
          <a:sy n="50" d="100"/>
        </p:scale>
        <p:origin x="-139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192C5-1C1E-4C7C-BCDA-AB18ED04B382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A6057-AB2C-421E-9B84-AFB0BC69BF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91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Random forest </a:t>
            </a:r>
            <a:r>
              <a:rPr lang="ko-KR" altLang="en-US" dirty="0" smtClean="0"/>
              <a:t>정말 많이 쓰고 중요한데 그 기초가 </a:t>
            </a:r>
            <a:r>
              <a:rPr lang="en-US" altLang="ko-KR" dirty="0" smtClean="0"/>
              <a:t>decision tree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436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기준을 어떤 </a:t>
            </a:r>
            <a:r>
              <a:rPr lang="en-US" altLang="ko-KR" dirty="0" smtClean="0"/>
              <a:t>column 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할건지가</a:t>
            </a:r>
            <a:r>
              <a:rPr lang="ko-KR" altLang="en-US" dirty="0" smtClean="0"/>
              <a:t> 가장 중</a:t>
            </a:r>
            <a:r>
              <a:rPr lang="ko-KR" altLang="en-US" dirty="0" smtClean="0"/>
              <a:t>요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Regression </a:t>
            </a:r>
            <a:r>
              <a:rPr lang="ko-KR" altLang="en-US" dirty="0" smtClean="0"/>
              <a:t>은 예측하는게 아니니까</a:t>
            </a:r>
            <a:r>
              <a:rPr lang="en-US" altLang="ko-KR" dirty="0" smtClean="0"/>
              <a:t>.. </a:t>
            </a:r>
            <a:r>
              <a:rPr lang="ko-KR" altLang="en-US" dirty="0" smtClean="0"/>
              <a:t>기존의 데이터들의 평균값이 데이터로 들어감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Classification </a:t>
            </a:r>
            <a:r>
              <a:rPr lang="ko-KR" altLang="en-US" dirty="0" smtClean="0"/>
              <a:t>은 과반수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어떤게</a:t>
            </a:r>
            <a:r>
              <a:rPr lang="ko-KR" altLang="en-US" dirty="0" smtClean="0"/>
              <a:t> 가장 </a:t>
            </a:r>
            <a:r>
              <a:rPr lang="ko-KR" altLang="en-US" dirty="0" err="1" smtClean="0"/>
              <a:t>많은지가</a:t>
            </a:r>
            <a:r>
              <a:rPr lang="ko-KR" altLang="en-US" dirty="0" smtClean="0"/>
              <a:t> 들어감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순도</a:t>
            </a:r>
            <a:r>
              <a:rPr lang="en-US" altLang="ko-KR" dirty="0" smtClean="0"/>
              <a:t>.. </a:t>
            </a:r>
            <a:r>
              <a:rPr lang="ko-KR" altLang="en-US" dirty="0" smtClean="0"/>
              <a:t>어떤 데이터로 몰리게 만들고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불순도는</a:t>
            </a:r>
            <a:r>
              <a:rPr lang="ko-KR" altLang="en-US" dirty="0" smtClean="0"/>
              <a:t> 낮춰주는 쪽으로 </a:t>
            </a:r>
            <a:r>
              <a:rPr lang="ko-KR" altLang="en-US" dirty="0" err="1" smtClean="0"/>
              <a:t>만들어나가야함</a:t>
            </a:r>
            <a:r>
              <a:rPr lang="en-US" altLang="ko-KR" dirty="0" smtClean="0"/>
              <a:t>. </a:t>
            </a:r>
            <a:r>
              <a:rPr lang="ko-KR" altLang="en-US" dirty="0" smtClean="0"/>
              <a:t>깔끔하게</a:t>
            </a:r>
            <a:r>
              <a:rPr lang="en-US" altLang="ko-KR" dirty="0" smtClean="0"/>
              <a:t>..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812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Regression </a:t>
            </a:r>
            <a:r>
              <a:rPr lang="ko-KR" altLang="en-US" dirty="0" smtClean="0"/>
              <a:t>은 예측하는게 아니니까</a:t>
            </a:r>
            <a:r>
              <a:rPr lang="en-US" altLang="ko-KR" dirty="0" smtClean="0"/>
              <a:t>.. </a:t>
            </a:r>
            <a:r>
              <a:rPr lang="ko-KR" altLang="en-US" dirty="0" smtClean="0"/>
              <a:t>기존의 데이터들의 평균값이 데이터로 들어감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Classification </a:t>
            </a:r>
            <a:r>
              <a:rPr lang="ko-KR" altLang="en-US" dirty="0" smtClean="0"/>
              <a:t>은 과반수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어떤게</a:t>
            </a:r>
            <a:r>
              <a:rPr lang="ko-KR" altLang="en-US" dirty="0" smtClean="0"/>
              <a:t> 가장 </a:t>
            </a:r>
            <a:r>
              <a:rPr lang="ko-KR" altLang="en-US" dirty="0" err="1" smtClean="0"/>
              <a:t>많은지가</a:t>
            </a:r>
            <a:r>
              <a:rPr lang="ko-KR" altLang="en-US" dirty="0" smtClean="0"/>
              <a:t> 들어감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둘다 가능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957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Pk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확률</a:t>
            </a:r>
            <a:endParaRPr lang="en-US" altLang="ko-KR" dirty="0" smtClean="0"/>
          </a:p>
          <a:p>
            <a:r>
              <a:rPr lang="en-US" altLang="ko-KR" dirty="0" err="1" smtClean="0"/>
              <a:t>Ri</a:t>
            </a:r>
            <a:r>
              <a:rPr lang="en-US" altLang="ko-KR" dirty="0" smtClean="0"/>
              <a:t> : </a:t>
            </a:r>
            <a:r>
              <a:rPr lang="ko-KR" altLang="en-US" baseline="0" dirty="0" smtClean="0"/>
              <a:t> 총 </a:t>
            </a:r>
            <a:r>
              <a:rPr lang="en-US" altLang="ko-KR" baseline="0" dirty="0" smtClean="0"/>
              <a:t>14</a:t>
            </a:r>
            <a:r>
              <a:rPr lang="ko-KR" altLang="en-US" baseline="0" dirty="0" smtClean="0"/>
              <a:t>개 있는데 </a:t>
            </a:r>
            <a:r>
              <a:rPr lang="en-US" altLang="ko-KR" baseline="0" dirty="0" smtClean="0"/>
              <a:t>sunny </a:t>
            </a:r>
            <a:r>
              <a:rPr lang="ko-KR" altLang="en-US" baseline="0" dirty="0" smtClean="0"/>
              <a:t>로 </a:t>
            </a:r>
            <a:r>
              <a:rPr lang="en-US" altLang="ko-KR" baseline="0" dirty="0" smtClean="0"/>
              <a:t>5</a:t>
            </a:r>
            <a:r>
              <a:rPr lang="ko-KR" altLang="en-US" baseline="0" dirty="0" smtClean="0"/>
              <a:t>개 옴 </a:t>
            </a:r>
            <a:r>
              <a:rPr lang="en-US" altLang="ko-KR" baseline="0" dirty="0" smtClean="0"/>
              <a:t>-&gt; 5/14, d = 3… 3</a:t>
            </a:r>
            <a:r>
              <a:rPr lang="ko-KR" altLang="en-US" baseline="0" dirty="0" smtClean="0"/>
              <a:t>개 </a:t>
            </a:r>
            <a:r>
              <a:rPr lang="ko-KR" altLang="en-US" baseline="0" dirty="0" err="1" smtClean="0"/>
              <a:t>블락이니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M</a:t>
            </a:r>
            <a:r>
              <a:rPr lang="ko-KR" altLang="en-US" baseline="0" dirty="0" smtClean="0"/>
              <a:t>은 </a:t>
            </a:r>
            <a:r>
              <a:rPr lang="en-US" altLang="ko-KR" baseline="0" dirty="0" smtClean="0"/>
              <a:t>sunny </a:t>
            </a:r>
            <a:r>
              <a:rPr lang="ko-KR" altLang="en-US" baseline="0" dirty="0" smtClean="0"/>
              <a:t>일 때 </a:t>
            </a:r>
            <a:r>
              <a:rPr lang="en-US" altLang="ko-KR" baseline="0" dirty="0" smtClean="0"/>
              <a:t>5</a:t>
            </a:r>
            <a:r>
              <a:rPr lang="ko-KR" altLang="en-US" baseline="0" dirty="0" smtClean="0"/>
              <a:t>개</a:t>
            </a:r>
            <a:r>
              <a:rPr lang="en-US" altLang="ko-KR" baseline="0" dirty="0" smtClean="0"/>
              <a:t>. (play 2/ </a:t>
            </a:r>
            <a:r>
              <a:rPr lang="en-US" altLang="ko-KR" baseline="0" dirty="0" err="1" smtClean="0"/>
              <a:t>dontplay</a:t>
            </a:r>
            <a:r>
              <a:rPr lang="en-US" altLang="ko-KR" baseline="0" dirty="0" smtClean="0"/>
              <a:t> 3) -&gt; </a:t>
            </a:r>
            <a:r>
              <a:rPr lang="en-US" altLang="ko-KR" baseline="0" dirty="0" err="1" smtClean="0"/>
              <a:t>pk</a:t>
            </a:r>
            <a:r>
              <a:rPr lang="en-US" altLang="ko-KR" baseline="0" dirty="0" smtClean="0"/>
              <a:t> : 2/5, 3/5</a:t>
            </a:r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지니계수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-&gt; 1</a:t>
            </a:r>
            <a:r>
              <a:rPr lang="ko-KR" altLang="en-US" baseline="0" dirty="0" smtClean="0"/>
              <a:t>에서 확률 제곱 </a:t>
            </a:r>
            <a:r>
              <a:rPr lang="ko-KR" altLang="en-US" baseline="0" dirty="0" err="1" smtClean="0"/>
              <a:t>뺀것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-&gt;</a:t>
            </a:r>
            <a:r>
              <a:rPr lang="ko-KR" altLang="en-US" baseline="0" dirty="0" smtClean="0"/>
              <a:t>엔트로피와 </a:t>
            </a:r>
            <a:r>
              <a:rPr lang="ko-KR" altLang="en-US" baseline="0" dirty="0" err="1" smtClean="0"/>
              <a:t>비슷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311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기준을 어떤 </a:t>
            </a:r>
            <a:r>
              <a:rPr lang="en-US" altLang="ko-KR" dirty="0" smtClean="0"/>
              <a:t>column 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할건지가</a:t>
            </a:r>
            <a:r>
              <a:rPr lang="ko-KR" altLang="en-US" dirty="0" smtClean="0"/>
              <a:t> 가장 중</a:t>
            </a:r>
            <a:r>
              <a:rPr lang="ko-KR" altLang="en-US" dirty="0" smtClean="0"/>
              <a:t>요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Regression </a:t>
            </a:r>
            <a:r>
              <a:rPr lang="ko-KR" altLang="en-US" dirty="0" smtClean="0"/>
              <a:t>은 예측하는게 아니니까</a:t>
            </a:r>
            <a:r>
              <a:rPr lang="en-US" altLang="ko-KR" dirty="0" smtClean="0"/>
              <a:t>.. </a:t>
            </a:r>
            <a:r>
              <a:rPr lang="ko-KR" altLang="en-US" dirty="0" smtClean="0"/>
              <a:t>기존의 데이터들의 평균값이 데이터로 들어감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Classification </a:t>
            </a:r>
            <a:r>
              <a:rPr lang="ko-KR" altLang="en-US" dirty="0" smtClean="0"/>
              <a:t>은 과반수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어떤게</a:t>
            </a:r>
            <a:r>
              <a:rPr lang="ko-KR" altLang="en-US" dirty="0" smtClean="0"/>
              <a:t> 가장 </a:t>
            </a:r>
            <a:r>
              <a:rPr lang="ko-KR" altLang="en-US" dirty="0" err="1" smtClean="0"/>
              <a:t>많은지가</a:t>
            </a:r>
            <a:r>
              <a:rPr lang="ko-KR" altLang="en-US" dirty="0" smtClean="0"/>
              <a:t> 들어감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순도</a:t>
            </a:r>
            <a:r>
              <a:rPr lang="en-US" altLang="ko-KR" dirty="0" smtClean="0"/>
              <a:t>.. </a:t>
            </a:r>
            <a:r>
              <a:rPr lang="ko-KR" altLang="en-US" dirty="0" smtClean="0"/>
              <a:t>어떤 데이터로 몰리게 만들고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불순도는</a:t>
            </a:r>
            <a:r>
              <a:rPr lang="ko-KR" altLang="en-US" dirty="0" smtClean="0"/>
              <a:t> 낮춰주는 쪽으로 </a:t>
            </a:r>
            <a:r>
              <a:rPr lang="ko-KR" altLang="en-US" dirty="0" err="1" smtClean="0"/>
              <a:t>만들어나가야함</a:t>
            </a:r>
            <a:r>
              <a:rPr lang="en-US" altLang="ko-KR" dirty="0" smtClean="0"/>
              <a:t>. </a:t>
            </a:r>
            <a:r>
              <a:rPr lang="ko-KR" altLang="en-US" dirty="0" smtClean="0"/>
              <a:t>깔끔하게</a:t>
            </a:r>
            <a:r>
              <a:rPr lang="en-US" altLang="ko-KR" dirty="0" smtClean="0"/>
              <a:t>..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971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데이터가 총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개</a:t>
            </a:r>
            <a:r>
              <a:rPr lang="en-US" altLang="ko-KR" dirty="0" smtClean="0"/>
              <a:t>. </a:t>
            </a:r>
            <a:r>
              <a:rPr lang="ko-KR" altLang="en-US" dirty="0" smtClean="0"/>
              <a:t>종속변수를 이상형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네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아니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상태에서 엔트로피 </a:t>
            </a:r>
            <a:r>
              <a:rPr lang="en-US" altLang="ko-KR" dirty="0" smtClean="0"/>
              <a:t>-&gt; root node </a:t>
            </a:r>
            <a:r>
              <a:rPr lang="ko-KR" altLang="en-US" dirty="0" smtClean="0"/>
              <a:t>에서는 </a:t>
            </a:r>
            <a:r>
              <a:rPr lang="en-US" altLang="ko-KR" dirty="0" err="1" smtClean="0"/>
              <a:t>ri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구할필요</a:t>
            </a:r>
            <a:r>
              <a:rPr lang="ko-KR" altLang="en-US" dirty="0" smtClean="0"/>
              <a:t> </a:t>
            </a:r>
            <a:r>
              <a:rPr lang="en-US" altLang="ko-KR" dirty="0" smtClean="0"/>
              <a:t>x . </a:t>
            </a:r>
            <a:r>
              <a:rPr lang="ko-KR" altLang="en-US" dirty="0" err="1" smtClean="0"/>
              <a:t>분리된게</a:t>
            </a:r>
            <a:r>
              <a:rPr lang="ko-KR" altLang="en-US" dirty="0" smtClean="0"/>
              <a:t> 아니라 </a:t>
            </a:r>
            <a:r>
              <a:rPr lang="en-US" altLang="ko-KR" dirty="0" smtClean="0"/>
              <a:t>4/4 = 1</a:t>
            </a:r>
          </a:p>
          <a:p>
            <a:r>
              <a:rPr lang="ko-KR" altLang="en-US" dirty="0" smtClean="0"/>
              <a:t>전체</a:t>
            </a:r>
            <a:r>
              <a:rPr lang="en-US" altLang="ko-KR" dirty="0" smtClean="0"/>
              <a:t> </a:t>
            </a:r>
            <a:r>
              <a:rPr lang="ko-KR" altLang="en-US" dirty="0" smtClean="0"/>
              <a:t>중 이상형 맞을 경우 </a:t>
            </a:r>
            <a:r>
              <a:rPr lang="en-US" altLang="ko-KR" dirty="0" smtClean="0"/>
              <a:t>½.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86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잘생겼을</a:t>
            </a:r>
            <a:r>
              <a:rPr lang="ko-KR" altLang="en-US" dirty="0" smtClean="0"/>
              <a:t> 때 </a:t>
            </a:r>
            <a:endParaRPr lang="en-US" altLang="ko-KR" dirty="0" smtClean="0"/>
          </a:p>
          <a:p>
            <a:r>
              <a:rPr lang="ko-KR" altLang="en-US" dirty="0" err="1" smtClean="0"/>
              <a:t>첫번째것</a:t>
            </a:r>
            <a:r>
              <a:rPr lang="ko-KR" altLang="en-US" dirty="0" smtClean="0"/>
              <a:t> </a:t>
            </a:r>
            <a:r>
              <a:rPr lang="en-US" altLang="ko-KR" dirty="0" smtClean="0"/>
              <a:t>¾(</a:t>
            </a:r>
          </a:p>
          <a:p>
            <a:r>
              <a:rPr lang="ko-KR" altLang="en-US" dirty="0" smtClean="0"/>
              <a:t>그 다음 그 중에서 </a:t>
            </a:r>
            <a:r>
              <a:rPr lang="ko-KR" altLang="en-US" dirty="0" err="1" smtClean="0"/>
              <a:t>이상형인게</a:t>
            </a:r>
            <a:r>
              <a:rPr lang="ko-KR" altLang="en-US" dirty="0" smtClean="0"/>
              <a:t>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중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아닌게</a:t>
            </a:r>
            <a:r>
              <a:rPr lang="ko-KR" altLang="en-US" dirty="0" smtClean="0"/>
              <a:t>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중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노래로 나누면 노래 잘하면 다 이상형</a:t>
            </a:r>
            <a:r>
              <a:rPr lang="en-US" altLang="ko-KR" dirty="0" smtClean="0"/>
              <a:t>. </a:t>
            </a:r>
            <a:r>
              <a:rPr lang="ko-KR" altLang="en-US" dirty="0" smtClean="0"/>
              <a:t>아주 깨끗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순도 좋음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따라서 잘해 계산하면 </a:t>
            </a:r>
            <a:endParaRPr lang="en-US" altLang="ko-KR" baseline="0" dirty="0" smtClean="0"/>
          </a:p>
          <a:p>
            <a:r>
              <a:rPr lang="ko-KR" altLang="en-US" baseline="0" dirty="0" smtClean="0"/>
              <a:t>역시나 엔트로피 </a:t>
            </a:r>
            <a:r>
              <a:rPr lang="ko-KR" altLang="en-US" baseline="0" dirty="0" err="1" smtClean="0"/>
              <a:t>깔끔</a:t>
            </a:r>
            <a:r>
              <a:rPr lang="en-US" altLang="ko-KR" baseline="0" dirty="0" smtClean="0"/>
              <a:t>. </a:t>
            </a:r>
          </a:p>
          <a:p>
            <a:r>
              <a:rPr lang="en-US" altLang="ko-KR" baseline="0" dirty="0" smtClean="0"/>
              <a:t>-&gt; </a:t>
            </a:r>
            <a:r>
              <a:rPr lang="ko-KR" altLang="en-US" baseline="0" dirty="0" err="1" smtClean="0"/>
              <a:t>정보이득이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많은쪽으로</a:t>
            </a:r>
            <a:r>
              <a:rPr lang="ko-KR" altLang="en-US" baseline="0" dirty="0" smtClean="0"/>
              <a:t> 기준</a:t>
            </a:r>
            <a:r>
              <a:rPr lang="en-US" altLang="ko-KR" baseline="0" dirty="0" smtClean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949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지니는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1</a:t>
            </a:r>
            <a:r>
              <a:rPr lang="ko-KR" altLang="en-US" baseline="0" dirty="0" smtClean="0"/>
              <a:t>에서 각 확률의 제곱을 </a:t>
            </a:r>
            <a:r>
              <a:rPr lang="ko-KR" altLang="en-US" baseline="0" dirty="0" err="1" smtClean="0"/>
              <a:t>빼주면됨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지니랑</a:t>
            </a:r>
            <a:r>
              <a:rPr lang="ko-KR" altLang="en-US" baseline="0" dirty="0" smtClean="0"/>
              <a:t> 엔트로피 </a:t>
            </a:r>
            <a:r>
              <a:rPr lang="ko-KR" altLang="en-US" baseline="0" dirty="0" err="1" smtClean="0"/>
              <a:t>어느게</a:t>
            </a:r>
            <a:r>
              <a:rPr lang="ko-KR" altLang="en-US" baseline="0" dirty="0" smtClean="0"/>
              <a:t> 낫다고 말못함 둘다 해봐서 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루트 노드에서 </a:t>
            </a:r>
            <a:r>
              <a:rPr lang="ko-KR" altLang="en-US" baseline="0" dirty="0" err="1" smtClean="0"/>
              <a:t>인터미션</a:t>
            </a:r>
            <a:r>
              <a:rPr lang="ko-KR" altLang="en-US" baseline="0" dirty="0" smtClean="0"/>
              <a:t> 내려올 때 한번만</a:t>
            </a:r>
            <a:r>
              <a:rPr lang="en-US" altLang="ko-KR" baseline="0" dirty="0" smtClean="0"/>
              <a:t>.. </a:t>
            </a:r>
            <a:r>
              <a:rPr lang="ko-KR" altLang="en-US" baseline="0" dirty="0" err="1" smtClean="0"/>
              <a:t>정보이득이</a:t>
            </a:r>
            <a:r>
              <a:rPr lang="ko-KR" altLang="en-US" baseline="0" dirty="0" smtClean="0"/>
              <a:t> 바로 튀어나오게 </a:t>
            </a:r>
            <a:r>
              <a:rPr lang="ko-KR" altLang="en-US" baseline="0" dirty="0" err="1" smtClean="0"/>
              <a:t>함수짜는</a:t>
            </a:r>
            <a:r>
              <a:rPr lang="ko-KR" altLang="en-US" baseline="0" dirty="0" smtClean="0"/>
              <a:t> 퀴즈</a:t>
            </a:r>
            <a:r>
              <a:rPr lang="en-US" altLang="ko-KR" baseline="0" dirty="0" smtClean="0"/>
              <a:t>..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059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계속 가지치기 </a:t>
            </a:r>
            <a:r>
              <a:rPr lang="ko-KR" altLang="en-US" dirty="0" err="1" smtClean="0"/>
              <a:t>하다보면</a:t>
            </a:r>
            <a:r>
              <a:rPr lang="ko-KR" altLang="en-US" dirty="0" smtClean="0"/>
              <a:t> 언젠가 </a:t>
            </a:r>
            <a:r>
              <a:rPr lang="ko-KR" altLang="en-US" dirty="0" err="1" smtClean="0"/>
              <a:t>한두개</a:t>
            </a:r>
            <a:r>
              <a:rPr lang="ko-KR" altLang="en-US" dirty="0" smtClean="0"/>
              <a:t> 남음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</a:p>
          <a:p>
            <a:r>
              <a:rPr lang="ko-KR" altLang="en-US" baseline="0" dirty="0" smtClean="0"/>
              <a:t>깔끔하게 순도 좋은 </a:t>
            </a:r>
            <a:r>
              <a:rPr lang="ko-KR" altLang="en-US" baseline="0" dirty="0" err="1" smtClean="0"/>
              <a:t>것만남음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이게 </a:t>
            </a:r>
            <a:r>
              <a:rPr lang="ko-KR" altLang="en-US" baseline="0" dirty="0" err="1" smtClean="0"/>
              <a:t>좋은걸까</a:t>
            </a:r>
            <a:r>
              <a:rPr lang="en-US" altLang="ko-KR" baseline="0" dirty="0" smtClean="0"/>
              <a:t>? </a:t>
            </a:r>
            <a:r>
              <a:rPr lang="ko-KR" altLang="en-US" baseline="0" dirty="0" smtClean="0"/>
              <a:t>너무 </a:t>
            </a:r>
            <a:r>
              <a:rPr lang="ko-KR" altLang="en-US" baseline="0" dirty="0" err="1" smtClean="0"/>
              <a:t>과적합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오버피팅이면 안좋음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95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가지치기는 데이터를 버리는게 아니다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자른다고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개를 버리는게 아니다 </a:t>
            </a:r>
            <a:r>
              <a:rPr lang="ko-KR" altLang="en-US" dirty="0" err="1" smtClean="0"/>
              <a:t>한기준으로</a:t>
            </a:r>
            <a:r>
              <a:rPr lang="ko-KR" altLang="en-US" dirty="0" smtClean="0"/>
              <a:t> 분류하고 더 이상 기준으로 분류하지 않겠다 </a:t>
            </a:r>
            <a:r>
              <a:rPr lang="en-US" altLang="ko-KR" dirty="0" smtClean="0"/>
              <a:t>( </a:t>
            </a:r>
            <a:r>
              <a:rPr lang="ko-KR" altLang="en-US" dirty="0" smtClean="0"/>
              <a:t>너무 </a:t>
            </a:r>
            <a:r>
              <a:rPr lang="ko-KR" altLang="en-US" dirty="0" err="1" smtClean="0"/>
              <a:t>과적합되니까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09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Err -&gt;</a:t>
            </a:r>
            <a:r>
              <a:rPr lang="en-US" altLang="ko-KR" baseline="0" dirty="0" smtClean="0"/>
              <a:t> 1</a:t>
            </a:r>
            <a:r>
              <a:rPr lang="ko-KR" altLang="en-US" baseline="0" dirty="0" smtClean="0"/>
              <a:t>에서 정확도 뺀 것</a:t>
            </a:r>
            <a:r>
              <a:rPr lang="en-US" altLang="ko-KR" baseline="0" dirty="0" smtClean="0"/>
              <a:t>. </a:t>
            </a:r>
            <a:r>
              <a:rPr lang="ko-KR" altLang="en-US" baseline="0" dirty="0" err="1" smtClean="0"/>
              <a:t>오분류된것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알파는 가중치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별 의미 없이 그냥 곱해주는 것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반드시 </a:t>
            </a:r>
            <a:r>
              <a:rPr lang="ko-KR" altLang="en-US" baseline="0" dirty="0" err="1" smtClean="0"/>
              <a:t>알파값이</a:t>
            </a:r>
            <a:r>
              <a:rPr lang="ko-KR" altLang="en-US" baseline="0" dirty="0" smtClean="0"/>
              <a:t> 뭐가 </a:t>
            </a:r>
            <a:r>
              <a:rPr lang="ko-KR" altLang="en-US" baseline="0" dirty="0" err="1" smtClean="0"/>
              <a:t>좋다는건</a:t>
            </a:r>
            <a:r>
              <a:rPr lang="ko-KR" altLang="en-US" baseline="0" dirty="0" smtClean="0"/>
              <a:t> 없고 돌려봐야 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대충 어느정도 값이 좋다 하면 가져다 </a:t>
            </a:r>
            <a:r>
              <a:rPr lang="ko-KR" altLang="en-US" baseline="0" dirty="0" err="1" smtClean="0"/>
              <a:t>쓰는정도</a:t>
            </a:r>
            <a:r>
              <a:rPr lang="en-US" altLang="ko-KR" baseline="0" dirty="0" smtClean="0"/>
              <a:t>. 0~1 </a:t>
            </a:r>
            <a:r>
              <a:rPr lang="ko-KR" altLang="en-US" baseline="0" dirty="0" smtClean="0"/>
              <a:t>사이 값임</a:t>
            </a:r>
            <a:r>
              <a:rPr lang="en-US" altLang="ko-KR" baseline="0" dirty="0" smtClean="0"/>
              <a:t>. </a:t>
            </a:r>
          </a:p>
          <a:p>
            <a:r>
              <a:rPr lang="ko-KR" altLang="en-US" baseline="0" dirty="0" smtClean="0"/>
              <a:t>주로 </a:t>
            </a:r>
            <a:r>
              <a:rPr lang="en-US" altLang="ko-KR" baseline="0" dirty="0" smtClean="0"/>
              <a:t>0.1 </a:t>
            </a:r>
            <a:r>
              <a:rPr lang="ko-KR" altLang="en-US" baseline="0" dirty="0" smtClean="0"/>
              <a:t>이나 </a:t>
            </a:r>
            <a:r>
              <a:rPr lang="en-US" altLang="ko-KR" baseline="0" dirty="0" smtClean="0"/>
              <a:t>0.01 </a:t>
            </a:r>
            <a:r>
              <a:rPr lang="ko-KR" altLang="en-US" baseline="0" dirty="0" smtClean="0"/>
              <a:t>많이 쓴다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비용복잡도</a:t>
            </a:r>
            <a:r>
              <a:rPr lang="ko-KR" altLang="en-US" baseline="0" dirty="0" smtClean="0"/>
              <a:t> 높으면 안좋음 </a:t>
            </a:r>
            <a:r>
              <a:rPr lang="en-US" altLang="ko-KR" baseline="0" dirty="0" smtClean="0"/>
              <a:t>(cc(t))</a:t>
            </a:r>
          </a:p>
          <a:p>
            <a:r>
              <a:rPr lang="ko-KR" altLang="en-US" baseline="0" dirty="0" smtClean="0"/>
              <a:t>터미널 너무 많이 만들면 </a:t>
            </a:r>
            <a:r>
              <a:rPr lang="ko-KR" altLang="en-US" baseline="0" dirty="0" err="1" smtClean="0"/>
              <a:t>비용복잡도</a:t>
            </a:r>
            <a:r>
              <a:rPr lang="ko-KR" altLang="en-US" baseline="0" dirty="0" smtClean="0"/>
              <a:t> 높게 </a:t>
            </a:r>
            <a:r>
              <a:rPr lang="ko-KR" altLang="en-US" baseline="0" dirty="0" err="1" smtClean="0"/>
              <a:t>만든것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err="1" smtClean="0"/>
              <a:t>오분류율만으로</a:t>
            </a:r>
            <a:r>
              <a:rPr lang="ko-KR" altLang="en-US" baseline="0" dirty="0" smtClean="0"/>
              <a:t> 만드는게 아니라 터미널 노드의 수를 측정해서 </a:t>
            </a:r>
            <a:r>
              <a:rPr lang="en-US" altLang="ko-KR" baseline="0" dirty="0" smtClean="0"/>
              <a:t>..</a:t>
            </a:r>
          </a:p>
          <a:p>
            <a:r>
              <a:rPr lang="ko-KR" altLang="en-US" baseline="0" dirty="0" smtClean="0"/>
              <a:t>가지가 많아지면 당연히 </a:t>
            </a:r>
            <a:r>
              <a:rPr lang="ko-KR" altLang="en-US" baseline="0" dirty="0" err="1" smtClean="0"/>
              <a:t>오분류율이</a:t>
            </a:r>
            <a:r>
              <a:rPr lang="ko-KR" altLang="en-US" baseline="0" dirty="0" smtClean="0"/>
              <a:t> 낮아지지만 그게 또 </a:t>
            </a:r>
            <a:r>
              <a:rPr lang="ko-KR" altLang="en-US" baseline="0" dirty="0" err="1" smtClean="0"/>
              <a:t>좋은게</a:t>
            </a:r>
            <a:r>
              <a:rPr lang="ko-KR" altLang="en-US" baseline="0" dirty="0" smtClean="0"/>
              <a:t> 아니기 때문에 뒤에 식을 </a:t>
            </a:r>
            <a:r>
              <a:rPr lang="ko-KR" altLang="en-US" baseline="0" dirty="0" err="1" smtClean="0"/>
              <a:t>추가한것임</a:t>
            </a:r>
            <a:r>
              <a:rPr lang="en-US" altLang="ko-KR" baseline="0" dirty="0" smtClean="0"/>
              <a:t>. </a:t>
            </a:r>
          </a:p>
          <a:p>
            <a:r>
              <a:rPr lang="ko-KR" altLang="en-US" baseline="0" dirty="0" smtClean="0"/>
              <a:t>터미널 </a:t>
            </a:r>
            <a:r>
              <a:rPr lang="ko-KR" altLang="en-US" baseline="0" dirty="0" err="1" smtClean="0"/>
              <a:t>노드수를</a:t>
            </a:r>
            <a:r>
              <a:rPr lang="ko-KR" altLang="en-US" baseline="0" dirty="0" smtClean="0"/>
              <a:t> 바로 더하면 안되는게 앞의 값은 </a:t>
            </a:r>
            <a:r>
              <a:rPr lang="en-US" altLang="ko-KR" baseline="0" dirty="0" smtClean="0"/>
              <a:t>0-1 </a:t>
            </a:r>
            <a:r>
              <a:rPr lang="ko-KR" altLang="en-US" baseline="0" dirty="0" smtClean="0"/>
              <a:t>인데 뒤에 수는 너무 큰 </a:t>
            </a:r>
            <a:r>
              <a:rPr lang="ko-KR" altLang="en-US" baseline="0" dirty="0" err="1" smtClean="0"/>
              <a:t>수니까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a </a:t>
            </a:r>
            <a:r>
              <a:rPr lang="ko-KR" altLang="en-US" baseline="0" dirty="0" smtClean="0"/>
              <a:t>곱해서 작게 해줌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터미널 수 높게 하면 제약을 준다는 의미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조금 더 억압을 해준다는 것임</a:t>
            </a:r>
            <a:r>
              <a:rPr lang="en-US" altLang="ko-KR" baseline="0" dirty="0" smtClean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A6057-AB2C-421E-9B84-AFB0BC69BF2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12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87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77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31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1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14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62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7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20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85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2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7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27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9BF28-9FA5-419D-9EAF-2E312C796D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414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2F6C3F-F8A6-469C-863C-722A91FE4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altLang="ko-KR" sz="4000" dirty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Decision Tree</a:t>
            </a:r>
            <a:endParaRPr lang="ko-KR" altLang="en-US" sz="4000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739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개체이(가) 표시된 사진&#10;&#10;자동 생성된 설명">
            <a:extLst>
              <a:ext uri="{FF2B5EF4-FFF2-40B4-BE49-F238E27FC236}">
                <a16:creationId xmlns:a16="http://schemas.microsoft.com/office/drawing/2014/main" id="{F15C18BB-9CCC-4DF0-AD1D-4E2F17945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897" y="652432"/>
            <a:ext cx="7454206" cy="505022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E358916-C2D8-4FCC-9847-3A6511E40D8A}"/>
              </a:ext>
            </a:extLst>
          </p:cNvPr>
          <p:cNvSpPr/>
          <p:nvPr/>
        </p:nvSpPr>
        <p:spPr>
          <a:xfrm>
            <a:off x="5611906" y="1255059"/>
            <a:ext cx="1219199" cy="6813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975C1CF-780F-46D9-A707-7AAEE228914E}"/>
              </a:ext>
            </a:extLst>
          </p:cNvPr>
          <p:cNvCxnSpPr>
            <a:cxnSpLocks/>
          </p:cNvCxnSpPr>
          <p:nvPr/>
        </p:nvCxnSpPr>
        <p:spPr>
          <a:xfrm flipV="1">
            <a:off x="4518212" y="1602902"/>
            <a:ext cx="1093694" cy="1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C26FD6-F2BB-4ECD-BA2A-EDE9804E12E7}"/>
              </a:ext>
            </a:extLst>
          </p:cNvPr>
          <p:cNvSpPr txBox="1"/>
          <p:nvPr/>
        </p:nvSpPr>
        <p:spPr>
          <a:xfrm>
            <a:off x="2554942" y="1567044"/>
            <a:ext cx="196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Root Node(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뿌리 노드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7B0D0A4-FA88-46FE-A075-206838635724}"/>
              </a:ext>
            </a:extLst>
          </p:cNvPr>
          <p:cNvSpPr/>
          <p:nvPr/>
        </p:nvSpPr>
        <p:spPr>
          <a:xfrm>
            <a:off x="7333130" y="3088341"/>
            <a:ext cx="1219199" cy="6813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04C77C2-783F-49A0-947F-7BA7824B6D7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8364070" y="2259541"/>
            <a:ext cx="403414" cy="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6FCE4C-796C-48CD-A609-0EEDB25AF274}"/>
              </a:ext>
            </a:extLst>
          </p:cNvPr>
          <p:cNvSpPr txBox="1"/>
          <p:nvPr/>
        </p:nvSpPr>
        <p:spPr>
          <a:xfrm>
            <a:off x="7673790" y="1613210"/>
            <a:ext cx="2187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Intermediate Node</a:t>
            </a:r>
          </a:p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         (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중간 노드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6FF70F4-BD78-4CC0-AF5F-C3C596C2E8EF}"/>
              </a:ext>
            </a:extLst>
          </p:cNvPr>
          <p:cNvSpPr/>
          <p:nvPr/>
        </p:nvSpPr>
        <p:spPr>
          <a:xfrm>
            <a:off x="3021106" y="4827494"/>
            <a:ext cx="1219199" cy="6813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F00614-6B08-4D3E-9364-13AA480B3EFC}"/>
              </a:ext>
            </a:extLst>
          </p:cNvPr>
          <p:cNvCxnSpPr>
            <a:cxnSpLocks/>
          </p:cNvCxnSpPr>
          <p:nvPr/>
        </p:nvCxnSpPr>
        <p:spPr>
          <a:xfrm>
            <a:off x="3021106" y="4025153"/>
            <a:ext cx="143435" cy="726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40C97E-3B35-45C5-92AB-8E479778578B}"/>
              </a:ext>
            </a:extLst>
          </p:cNvPr>
          <p:cNvSpPr txBox="1"/>
          <p:nvPr/>
        </p:nvSpPr>
        <p:spPr>
          <a:xfrm>
            <a:off x="2330823" y="3378822"/>
            <a:ext cx="157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Terminal Node</a:t>
            </a:r>
          </a:p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     (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끝 노드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3498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72396721-C9AD-408B-909B-7924415DD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3" y="2619708"/>
            <a:ext cx="3209544" cy="131591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73D7AD4-1B85-4249-9319-BD0E2AC70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68" y="2619708"/>
            <a:ext cx="3209544" cy="12276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00FC49-B67C-4622-AC01-7A4A948E9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88" y="2559529"/>
            <a:ext cx="3209544" cy="143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0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34651-7FEC-4768-98F4-2C88264FF5B3}"/>
              </a:ext>
            </a:extLst>
          </p:cNvPr>
          <p:cNvSpPr txBox="1"/>
          <p:nvPr/>
        </p:nvSpPr>
        <p:spPr>
          <a:xfrm>
            <a:off x="977152" y="2598003"/>
            <a:ext cx="10910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분류</a:t>
            </a:r>
            <a:r>
              <a:rPr lang="en-US" altLang="ko-KR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(Classification)  vs  </a:t>
            </a:r>
            <a:r>
              <a:rPr lang="ko-KR" altLang="en-US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회귀</a:t>
            </a:r>
            <a:r>
              <a:rPr lang="en-US" altLang="ko-KR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(Regression)</a:t>
            </a:r>
            <a:endParaRPr lang="ko-KR" altLang="en-US" sz="4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739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FE3EF7-06AE-4062-8AE2-26B674EA3DD1}"/>
              </a:ext>
            </a:extLst>
          </p:cNvPr>
          <p:cNvSpPr txBox="1"/>
          <p:nvPr/>
        </p:nvSpPr>
        <p:spPr>
          <a:xfrm>
            <a:off x="1414689" y="2598003"/>
            <a:ext cx="8658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1. </a:t>
            </a:r>
            <a:r>
              <a:rPr lang="ko-KR" altLang="en-US" sz="40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가지를 어떤 기준으로 분리 할 것인가</a:t>
            </a:r>
            <a:r>
              <a:rPr lang="en-US" altLang="ko-KR" sz="40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?</a:t>
            </a:r>
            <a:endParaRPr lang="ko-KR" altLang="en-US" sz="4000" dirty="0">
              <a:latin typeface="Arial Rounded MT Bold" panose="020F0704030504030204" pitchFamily="34" charset="0"/>
              <a:ea typeface="a옛날목욕탕L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8251A-1011-4525-BA0E-EE99DF8B5C96}"/>
              </a:ext>
            </a:extLst>
          </p:cNvPr>
          <p:cNvSpPr txBox="1"/>
          <p:nvPr/>
        </p:nvSpPr>
        <p:spPr>
          <a:xfrm>
            <a:off x="2590800" y="878540"/>
            <a:ext cx="701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Decision Tree(</a:t>
            </a:r>
            <a:r>
              <a:rPr lang="ko-KR" altLang="en-US" sz="48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의사 결정 나무</a:t>
            </a:r>
            <a:r>
              <a:rPr lang="en-US" altLang="ko-KR" sz="48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)</a:t>
            </a:r>
            <a:endParaRPr lang="ko-KR" altLang="en-US" sz="4800" dirty="0">
              <a:latin typeface="Arial Rounded MT Bold" panose="020F0704030504030204" pitchFamily="34" charset="0"/>
              <a:ea typeface="a옛날목욕탕L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A8D60-836D-4B41-93F6-19834D92C59A}"/>
              </a:ext>
            </a:extLst>
          </p:cNvPr>
          <p:cNvSpPr txBox="1"/>
          <p:nvPr/>
        </p:nvSpPr>
        <p:spPr>
          <a:xfrm>
            <a:off x="1414688" y="4058093"/>
            <a:ext cx="8658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2. </a:t>
            </a:r>
            <a:r>
              <a:rPr lang="ko-KR" altLang="en-US" sz="40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언제 가지치기를 멈출 것인가</a:t>
            </a:r>
            <a:r>
              <a:rPr lang="en-US" altLang="ko-KR" sz="4000" dirty="0">
                <a:latin typeface="Arial Rounded MT Bold" panose="020F0704030504030204" pitchFamily="34" charset="0"/>
                <a:ea typeface="a옛날목욕탕L" panose="02020600000000000000" pitchFamily="18" charset="-127"/>
              </a:rPr>
              <a:t>?</a:t>
            </a:r>
            <a:endParaRPr lang="ko-KR" altLang="en-US" sz="4000" dirty="0">
              <a:latin typeface="Arial Rounded MT Bold" panose="020F0704030504030204" pitchFamily="34" charset="0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92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BA31ED-D92D-42F1-AF8B-F9002D4DFF64}"/>
              </a:ext>
            </a:extLst>
          </p:cNvPr>
          <p:cNvSpPr txBox="1"/>
          <p:nvPr/>
        </p:nvSpPr>
        <p:spPr>
          <a:xfrm>
            <a:off x="698389" y="2175856"/>
            <a:ext cx="11775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순도 증가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(Homogeneity Increasement)     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불순도 감소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(Impurity </a:t>
            </a:r>
            <a:r>
              <a:rPr lang="en-US" altLang="ko-KR" sz="28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Decreasement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sz="2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C68BD-6DDD-4EE3-BAEC-753EC8874A46}"/>
              </a:ext>
            </a:extLst>
          </p:cNvPr>
          <p:cNvSpPr txBox="1"/>
          <p:nvPr/>
        </p:nvSpPr>
        <p:spPr>
          <a:xfrm>
            <a:off x="2668302" y="793605"/>
            <a:ext cx="8658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가지를 어떤 기준으로 분리 할 것인가</a:t>
            </a:r>
            <a:r>
              <a:rPr lang="en-US" altLang="ko-KR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?</a:t>
            </a:r>
            <a:endParaRPr lang="ko-KR" altLang="en-US" sz="4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DA7F1-1053-4552-8CA6-CE451BA6EFC1}"/>
              </a:ext>
            </a:extLst>
          </p:cNvPr>
          <p:cNvSpPr txBox="1"/>
          <p:nvPr/>
        </p:nvSpPr>
        <p:spPr>
          <a:xfrm>
            <a:off x="1671192" y="3607683"/>
            <a:ext cx="375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1. Entropy(</a:t>
            </a:r>
            <a:r>
              <a:rPr lang="ko-KR" altLang="en-US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엔트로피</a:t>
            </a:r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sz="32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99065-9D87-4D2B-BB10-F492DF29F8B3}"/>
              </a:ext>
            </a:extLst>
          </p:cNvPr>
          <p:cNvSpPr txBox="1"/>
          <p:nvPr/>
        </p:nvSpPr>
        <p:spPr>
          <a:xfrm>
            <a:off x="1597451" y="4970791"/>
            <a:ext cx="3903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2. Gini Index(</a:t>
            </a:r>
            <a:r>
              <a:rPr lang="ko-KR" altLang="en-US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지니 계수</a:t>
            </a:r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sz="32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13" name="그림 12" descr="개체, 시계, 손목시계이(가) 표시된 사진&#10;&#10;자동 생성된 설명">
            <a:extLst>
              <a:ext uri="{FF2B5EF4-FFF2-40B4-BE49-F238E27FC236}">
                <a16:creationId xmlns:a16="http://schemas.microsoft.com/office/drawing/2014/main" id="{8C0D2114-F175-466E-8EDC-55ABB66B6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541" y="3250331"/>
            <a:ext cx="6679048" cy="12994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0F5C82-7CCA-43A5-B73A-EB4AC136B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235" y="4555180"/>
            <a:ext cx="5383307" cy="141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3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개체이(가) 표시된 사진&#10;&#10;자동 생성된 설명">
            <a:extLst>
              <a:ext uri="{FF2B5EF4-FFF2-40B4-BE49-F238E27FC236}">
                <a16:creationId xmlns:a16="http://schemas.microsoft.com/office/drawing/2014/main" id="{F15C18BB-9CCC-4DF0-AD1D-4E2F17945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897" y="652432"/>
            <a:ext cx="7454206" cy="505022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E358916-C2D8-4FCC-9847-3A6511E40D8A}"/>
              </a:ext>
            </a:extLst>
          </p:cNvPr>
          <p:cNvSpPr/>
          <p:nvPr/>
        </p:nvSpPr>
        <p:spPr>
          <a:xfrm>
            <a:off x="5611906" y="1255059"/>
            <a:ext cx="1219199" cy="6813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975C1CF-780F-46D9-A707-7AAEE228914E}"/>
              </a:ext>
            </a:extLst>
          </p:cNvPr>
          <p:cNvCxnSpPr>
            <a:cxnSpLocks/>
          </p:cNvCxnSpPr>
          <p:nvPr/>
        </p:nvCxnSpPr>
        <p:spPr>
          <a:xfrm flipV="1">
            <a:off x="4518212" y="1602902"/>
            <a:ext cx="1093694" cy="1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C26FD6-F2BB-4ECD-BA2A-EDE9804E12E7}"/>
              </a:ext>
            </a:extLst>
          </p:cNvPr>
          <p:cNvSpPr txBox="1"/>
          <p:nvPr/>
        </p:nvSpPr>
        <p:spPr>
          <a:xfrm>
            <a:off x="2554942" y="1567044"/>
            <a:ext cx="196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Root Node(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뿌리 노드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7B0D0A4-FA88-46FE-A075-206838635724}"/>
              </a:ext>
            </a:extLst>
          </p:cNvPr>
          <p:cNvSpPr/>
          <p:nvPr/>
        </p:nvSpPr>
        <p:spPr>
          <a:xfrm>
            <a:off x="7333130" y="3088341"/>
            <a:ext cx="1219199" cy="6813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04C77C2-783F-49A0-947F-7BA7824B6D7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8364070" y="2259541"/>
            <a:ext cx="403414" cy="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6FCE4C-796C-48CD-A609-0EEDB25AF274}"/>
              </a:ext>
            </a:extLst>
          </p:cNvPr>
          <p:cNvSpPr txBox="1"/>
          <p:nvPr/>
        </p:nvSpPr>
        <p:spPr>
          <a:xfrm>
            <a:off x="7673790" y="1613210"/>
            <a:ext cx="2187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Intermediate Node</a:t>
            </a:r>
          </a:p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         (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중간 노드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6FF70F4-BD78-4CC0-AF5F-C3C596C2E8EF}"/>
              </a:ext>
            </a:extLst>
          </p:cNvPr>
          <p:cNvSpPr/>
          <p:nvPr/>
        </p:nvSpPr>
        <p:spPr>
          <a:xfrm>
            <a:off x="3021106" y="4827494"/>
            <a:ext cx="1219199" cy="6813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F00614-6B08-4D3E-9364-13AA480B3EFC}"/>
              </a:ext>
            </a:extLst>
          </p:cNvPr>
          <p:cNvCxnSpPr>
            <a:cxnSpLocks/>
          </p:cNvCxnSpPr>
          <p:nvPr/>
        </p:nvCxnSpPr>
        <p:spPr>
          <a:xfrm>
            <a:off x="3021106" y="4025153"/>
            <a:ext cx="143435" cy="726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40C97E-3B35-45C5-92AB-8E479778578B}"/>
              </a:ext>
            </a:extLst>
          </p:cNvPr>
          <p:cNvSpPr txBox="1"/>
          <p:nvPr/>
        </p:nvSpPr>
        <p:spPr>
          <a:xfrm>
            <a:off x="2330823" y="3378822"/>
            <a:ext cx="157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Terminal Node</a:t>
            </a:r>
          </a:p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     (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끝 노드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21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쇼지, 텍스트이(가) 표시된 사진&#10;&#10;자동 생성된 설명">
            <a:extLst>
              <a:ext uri="{FF2B5EF4-FFF2-40B4-BE49-F238E27FC236}">
                <a16:creationId xmlns:a16="http://schemas.microsoft.com/office/drawing/2014/main" id="{777F555E-8EEB-44C4-BF59-E6EAA7E82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259" y="888666"/>
            <a:ext cx="7771482" cy="25534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0469A9-8EB0-4841-A37E-33C2E93ADC7A}"/>
              </a:ext>
            </a:extLst>
          </p:cNvPr>
          <p:cNvSpPr txBox="1"/>
          <p:nvPr/>
        </p:nvSpPr>
        <p:spPr>
          <a:xfrm>
            <a:off x="255348" y="125315"/>
            <a:ext cx="843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1. Entropy(</a:t>
            </a:r>
            <a:r>
              <a:rPr lang="ko-KR" altLang="en-US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엔트로피</a:t>
            </a:r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sz="32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B2FC9C-19E4-4428-892D-E2A9FC2A1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079" y="4194319"/>
            <a:ext cx="5457074" cy="11169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FAAC24-6EEA-4121-81CC-67429A8700C1}"/>
              </a:ext>
            </a:extLst>
          </p:cNvPr>
          <p:cNvSpPr txBox="1"/>
          <p:nvPr/>
        </p:nvSpPr>
        <p:spPr>
          <a:xfrm>
            <a:off x="2561967" y="4368965"/>
            <a:ext cx="278727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루트 노드 엔트로피</a:t>
            </a:r>
          </a:p>
        </p:txBody>
      </p:sp>
    </p:spTree>
    <p:extLst>
      <p:ext uri="{BB962C8B-B14F-4D97-AF65-F5344CB8AC3E}">
        <p14:creationId xmlns:p14="http://schemas.microsoft.com/office/powerpoint/2010/main" val="293194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개체이(가) 표시된 사진&#10;&#10;자동 생성된 설명">
            <a:extLst>
              <a:ext uri="{FF2B5EF4-FFF2-40B4-BE49-F238E27FC236}">
                <a16:creationId xmlns:a16="http://schemas.microsoft.com/office/drawing/2014/main" id="{FB305D73-DFE5-4C7B-9924-78381CC9E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49" y="2005782"/>
            <a:ext cx="5080983" cy="26547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21CB200-E3FE-49FC-8353-DE3371346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8" y="2005781"/>
            <a:ext cx="6133741" cy="265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1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쇼지, 텍스트이(가) 표시된 사진&#10;&#10;자동 생성된 설명">
            <a:extLst>
              <a:ext uri="{FF2B5EF4-FFF2-40B4-BE49-F238E27FC236}">
                <a16:creationId xmlns:a16="http://schemas.microsoft.com/office/drawing/2014/main" id="{777F555E-8EEB-44C4-BF59-E6EAA7E82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259" y="888666"/>
            <a:ext cx="7771482" cy="25534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0469A9-8EB0-4841-A37E-33C2E93ADC7A}"/>
              </a:ext>
            </a:extLst>
          </p:cNvPr>
          <p:cNvSpPr txBox="1"/>
          <p:nvPr/>
        </p:nvSpPr>
        <p:spPr>
          <a:xfrm>
            <a:off x="255348" y="125315"/>
            <a:ext cx="843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2. Gini Index(</a:t>
            </a:r>
            <a:r>
              <a:rPr lang="ko-KR" altLang="en-US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지니 계수</a:t>
            </a:r>
            <a:r>
              <a:rPr lang="en-US" altLang="ko-KR" sz="3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sz="32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AAC24-6EEA-4121-81CC-67429A8700C1}"/>
              </a:ext>
            </a:extLst>
          </p:cNvPr>
          <p:cNvSpPr txBox="1"/>
          <p:nvPr/>
        </p:nvSpPr>
        <p:spPr>
          <a:xfrm>
            <a:off x="2561967" y="4368965"/>
            <a:ext cx="278727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옛날목욕탕L" panose="02020600000000000000" pitchFamily="18" charset="-127"/>
                <a:ea typeface="a옛날목욕탕L" panose="02020600000000000000" pitchFamily="18" charset="-127"/>
                <a:cs typeface="+mn-cs"/>
              </a:rPr>
              <a:t>루트 노드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옛날목욕탕L" panose="02020600000000000000" pitchFamily="18" charset="-127"/>
                <a:ea typeface="a옛날목욕탕L" panose="02020600000000000000" pitchFamily="18" charset="-127"/>
                <a:cs typeface="+mn-cs"/>
              </a:rPr>
              <a:t>지니계수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옛날목욕탕L" panose="02020600000000000000" pitchFamily="18" charset="-127"/>
              <a:ea typeface="a옛날목욕탕L" panose="02020600000000000000" pitchFamily="18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25F475-6658-47B0-B9BB-31E26BC2D66A}"/>
                  </a:ext>
                </a:extLst>
              </p:cNvPr>
              <p:cNvSpPr txBox="1"/>
              <p:nvPr/>
            </p:nvSpPr>
            <p:spPr>
              <a:xfrm>
                <a:off x="5380244" y="4267494"/>
                <a:ext cx="4601497" cy="787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1−(</m:t>
                    </m:r>
                    <m:sSup>
                      <m:s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−(</m:t>
                    </m:r>
                    <m:sSup>
                      <m:s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25F475-6658-47B0-B9BB-31E26BC2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244" y="4267494"/>
                <a:ext cx="4601497" cy="787716"/>
              </a:xfrm>
              <a:prstGeom prst="rect">
                <a:avLst/>
              </a:prstGeom>
              <a:blipFill>
                <a:blip r:embed="rId4"/>
                <a:stretch>
                  <a:fillRect b="-124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89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C8508924-2E21-4AA9-A536-291F87C2E74D}"/>
              </a:ext>
            </a:extLst>
          </p:cNvPr>
          <p:cNvGrpSpPr/>
          <p:nvPr/>
        </p:nvGrpSpPr>
        <p:grpSpPr>
          <a:xfrm>
            <a:off x="541623" y="2088833"/>
            <a:ext cx="9961111" cy="2407859"/>
            <a:chOff x="1026437" y="1187782"/>
            <a:chExt cx="9961111" cy="240785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32A921B-1EA4-459D-AD95-4430C7720266}"/>
                </a:ext>
              </a:extLst>
            </p:cNvPr>
            <p:cNvGrpSpPr/>
            <p:nvPr/>
          </p:nvGrpSpPr>
          <p:grpSpPr>
            <a:xfrm>
              <a:off x="1026437" y="1283111"/>
              <a:ext cx="6133741" cy="2145889"/>
              <a:chOff x="1321405" y="1942411"/>
              <a:chExt cx="6133741" cy="2145889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A6850BED-D15D-4F23-A68A-CD56461E1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1405" y="1942411"/>
                <a:ext cx="6133741" cy="2145889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CEEEA97-5672-487F-A29C-F5B9CBA5DBB4}"/>
                  </a:ext>
                </a:extLst>
              </p:cNvPr>
              <p:cNvSpPr/>
              <p:nvPr/>
            </p:nvSpPr>
            <p:spPr>
              <a:xfrm>
                <a:off x="2521974" y="1942411"/>
                <a:ext cx="4822723" cy="19216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CA4CAD9-FCB2-412B-9350-76D0539DF858}"/>
                    </a:ext>
                  </a:extLst>
                </p:cNvPr>
                <p:cNvSpPr txBox="1"/>
                <p:nvPr/>
              </p:nvSpPr>
              <p:spPr>
                <a:xfrm>
                  <a:off x="2445315" y="1187782"/>
                  <a:ext cx="8542233" cy="7912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(1−(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3200" dirty="0"/>
                    <a:t>)=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3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CA4CAD9-FCB2-412B-9350-76D0539DF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5315" y="1187782"/>
                  <a:ext cx="8542233" cy="791242"/>
                </a:xfrm>
                <a:prstGeom prst="rect">
                  <a:avLst/>
                </a:prstGeom>
                <a:blipFill>
                  <a:blip r:embed="rId3"/>
                  <a:stretch>
                    <a:fillRect b="-131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A3F7406-AD8A-4F36-9B93-79F2BFEBC03D}"/>
                    </a:ext>
                  </a:extLst>
                </p:cNvPr>
                <p:cNvSpPr txBox="1"/>
                <p:nvPr/>
              </p:nvSpPr>
              <p:spPr>
                <a:xfrm>
                  <a:off x="2445314" y="1934780"/>
                  <a:ext cx="8542233" cy="7912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(1−(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3200" dirty="0"/>
                    <a:t>)= </a:t>
                  </a:r>
                  <a14:m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A3F7406-AD8A-4F36-9B93-79F2BFEBC0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5314" y="1934780"/>
                  <a:ext cx="8542233" cy="791242"/>
                </a:xfrm>
                <a:prstGeom prst="rect">
                  <a:avLst/>
                </a:prstGeom>
                <a:blipFill>
                  <a:blip r:embed="rId4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AFB3BFE-133D-4C6C-AA87-26E70E70AE2B}"/>
                    </a:ext>
                  </a:extLst>
                </p:cNvPr>
                <p:cNvSpPr txBox="1"/>
                <p:nvPr/>
              </p:nvSpPr>
              <p:spPr>
                <a:xfrm>
                  <a:off x="2266336" y="2673465"/>
                  <a:ext cx="2737248" cy="9221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+0</m:t>
                            </m:r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AFB3BFE-133D-4C6C-AA87-26E70E70A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6336" y="2673465"/>
                  <a:ext cx="2737248" cy="92217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BC14BA7-B536-440C-A109-149845C5036E}"/>
              </a:ext>
            </a:extLst>
          </p:cNvPr>
          <p:cNvGrpSpPr/>
          <p:nvPr/>
        </p:nvGrpSpPr>
        <p:grpSpPr>
          <a:xfrm>
            <a:off x="6231616" y="2033743"/>
            <a:ext cx="9508827" cy="2395418"/>
            <a:chOff x="1026437" y="3720755"/>
            <a:chExt cx="9508827" cy="239541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C95BF8D-1135-447D-948A-1F6120A713AE}"/>
                </a:ext>
              </a:extLst>
            </p:cNvPr>
            <p:cNvGrpSpPr/>
            <p:nvPr/>
          </p:nvGrpSpPr>
          <p:grpSpPr>
            <a:xfrm>
              <a:off x="1026437" y="3782962"/>
              <a:ext cx="5020402" cy="2333211"/>
              <a:chOff x="1026437" y="3782962"/>
              <a:chExt cx="5020402" cy="2333211"/>
            </a:xfrm>
          </p:grpSpPr>
          <p:pic>
            <p:nvPicPr>
              <p:cNvPr id="3" name="그림 2" descr="개체이(가) 표시된 사진&#10;&#10;자동 생성된 설명">
                <a:extLst>
                  <a:ext uri="{FF2B5EF4-FFF2-40B4-BE49-F238E27FC236}">
                    <a16:creationId xmlns:a16="http://schemas.microsoft.com/office/drawing/2014/main" id="{2960D8A6-4D6F-41EA-90BC-4E699140B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6437" y="3782962"/>
                <a:ext cx="4627111" cy="2333211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90E6213-3DE5-4FBA-9A48-6CF167A80C60}"/>
                  </a:ext>
                </a:extLst>
              </p:cNvPr>
              <p:cNvSpPr/>
              <p:nvPr/>
            </p:nvSpPr>
            <p:spPr>
              <a:xfrm>
                <a:off x="1873045" y="3856446"/>
                <a:ext cx="3780503" cy="14087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725286-3250-4E0D-B140-997A996CA716}"/>
                  </a:ext>
                </a:extLst>
              </p:cNvPr>
              <p:cNvSpPr/>
              <p:nvPr/>
            </p:nvSpPr>
            <p:spPr>
              <a:xfrm>
                <a:off x="2266336" y="4577667"/>
                <a:ext cx="3780503" cy="14087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149CE2F-BFE6-4DEE-A406-97B47CF6E580}"/>
                    </a:ext>
                  </a:extLst>
                </p:cNvPr>
                <p:cNvSpPr txBox="1"/>
                <p:nvPr/>
              </p:nvSpPr>
              <p:spPr>
                <a:xfrm>
                  <a:off x="1993031" y="3720755"/>
                  <a:ext cx="8542233" cy="788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(1−(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3200" dirty="0"/>
                    <a:t>)= </a:t>
                  </a:r>
                  <a14:m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ko-KR" sz="3200" dirty="0"/>
                    <a:t> </a:t>
                  </a:r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149CE2F-BFE6-4DEE-A406-97B47CF6E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3031" y="3720755"/>
                  <a:ext cx="8542233" cy="788742"/>
                </a:xfrm>
                <a:prstGeom prst="rect">
                  <a:avLst/>
                </a:prstGeom>
                <a:blipFill>
                  <a:blip r:embed="rId7"/>
                  <a:stretch>
                    <a:fillRect b="-131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60A86E-C5C4-4167-AFCC-8F65FF24E6CB}"/>
                    </a:ext>
                  </a:extLst>
                </p:cNvPr>
                <p:cNvSpPr txBox="1"/>
                <p:nvPr/>
              </p:nvSpPr>
              <p:spPr>
                <a:xfrm>
                  <a:off x="1993031" y="4492965"/>
                  <a:ext cx="8542233" cy="788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(1−(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3200" dirty="0"/>
                    <a:t>)= </a:t>
                  </a:r>
                  <a14:m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ko-KR" sz="3200" dirty="0"/>
                    <a:t> </a:t>
                  </a:r>
                  <a:endParaRPr lang="ko-KR" alt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60A86E-C5C4-4167-AFCC-8F65FF24E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3031" y="4492965"/>
                  <a:ext cx="8542233" cy="788742"/>
                </a:xfrm>
                <a:prstGeom prst="rect">
                  <a:avLst/>
                </a:prstGeom>
                <a:blipFill>
                  <a:blip r:embed="rId8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F7E207F-A661-4375-BFE7-900F97BA09C0}"/>
                    </a:ext>
                  </a:extLst>
                </p:cNvPr>
                <p:cNvSpPr txBox="1"/>
                <p:nvPr/>
              </p:nvSpPr>
              <p:spPr>
                <a:xfrm>
                  <a:off x="2394672" y="5274472"/>
                  <a:ext cx="2737248" cy="7007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0+0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ko-KR" altLang="en-US" sz="28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F7E207F-A661-4375-BFE7-900F97BA0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4672" y="5274472"/>
                  <a:ext cx="2737248" cy="7007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6160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3247DB-77D9-4395-9033-5F415CADDD9F}"/>
              </a:ext>
            </a:extLst>
          </p:cNvPr>
          <p:cNvSpPr txBox="1"/>
          <p:nvPr/>
        </p:nvSpPr>
        <p:spPr>
          <a:xfrm>
            <a:off x="3027757" y="749360"/>
            <a:ext cx="6136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언제 가지치기를 멈출 것인가</a:t>
            </a:r>
            <a:r>
              <a:rPr lang="en-US" altLang="ko-KR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?</a:t>
            </a:r>
            <a:endParaRPr lang="ko-KR" altLang="en-US" sz="4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1C2AF-6333-4EE0-98AA-1A16A37E0FD7}"/>
              </a:ext>
            </a:extLst>
          </p:cNvPr>
          <p:cNvSpPr txBox="1"/>
          <p:nvPr/>
        </p:nvSpPr>
        <p:spPr>
          <a:xfrm>
            <a:off x="742335" y="1881158"/>
            <a:ext cx="110268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모든 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terminal node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의 순도가 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100%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인 상태를 </a:t>
            </a:r>
            <a:r>
              <a:rPr lang="en-US" altLang="ko-KR" sz="2800" b="1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Full tree</a:t>
            </a:r>
          </a:p>
          <a:p>
            <a:endParaRPr lang="en-US" altLang="ko-KR" sz="2800" b="1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2.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이러한 상태는 좋은 것이 아니다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.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분기가 너무 많아서 학습데이터에 </a:t>
            </a:r>
            <a:r>
              <a:rPr lang="ko-KR" altLang="en-US" sz="2800" b="1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과적합</a:t>
            </a:r>
            <a:r>
              <a:rPr lang="en-US" altLang="ko-KR" sz="2800" b="1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(overfitting)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할 염려가 생기기 때문입니다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.</a:t>
            </a:r>
          </a:p>
          <a:p>
            <a:endParaRPr lang="en-US" altLang="ko-KR" sz="2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3.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의사결정나무의 분기 수가 증가할 때 처음에는 새로운 데이터에 대한 </a:t>
            </a:r>
            <a:r>
              <a:rPr lang="ko-KR" altLang="en-US" sz="28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오분류율이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감소하나 일정 수준 이상이 되면 </a:t>
            </a:r>
            <a:r>
              <a:rPr lang="ko-KR" altLang="en-US" sz="28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오분류율이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되레 증가하는 현상이 발생</a:t>
            </a:r>
            <a:endParaRPr lang="en-US" altLang="ko-KR" sz="2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endParaRPr lang="en-US" altLang="ko-KR" sz="2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4.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가지치기는 데이터를 버리는 개념이 아니고 분기를 합치는 것</a:t>
            </a:r>
            <a:endParaRPr lang="en-US" altLang="ko-KR" sz="2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7812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하늘, 걸린, 지도이(가) 표시된 사진&#10;&#10;자동 생성된 설명">
            <a:extLst>
              <a:ext uri="{FF2B5EF4-FFF2-40B4-BE49-F238E27FC236}">
                <a16:creationId xmlns:a16="http://schemas.microsoft.com/office/drawing/2014/main" id="{3B509C62-E145-4A8B-AE04-2BB518E1B5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" r="20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2BF9C1-FEA2-4AC0-95DC-E6F6E3CE1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1629664"/>
            <a:ext cx="10905066" cy="35986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C3375E-31F4-4EDE-A31E-D0DDE48D7EE7}"/>
              </a:ext>
            </a:extLst>
          </p:cNvPr>
          <p:cNvSpPr txBox="1"/>
          <p:nvPr/>
        </p:nvSpPr>
        <p:spPr>
          <a:xfrm>
            <a:off x="3027757" y="336983"/>
            <a:ext cx="6136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언제 가지치기를 멈출 것인가</a:t>
            </a:r>
            <a:r>
              <a:rPr lang="en-US" altLang="ko-KR" sz="4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?</a:t>
            </a:r>
            <a:endParaRPr lang="ko-KR" altLang="en-US" sz="4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01031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241"/>
      </a:dk2>
      <a:lt2>
        <a:srgbClr val="E8E2E2"/>
      </a:lt2>
      <a:accent1>
        <a:srgbClr val="45AFAC"/>
      </a:accent1>
      <a:accent2>
        <a:srgbClr val="3B84B1"/>
      </a:accent2>
      <a:accent3>
        <a:srgbClr val="4D64C3"/>
      </a:accent3>
      <a:accent4>
        <a:srgbClr val="634CB8"/>
      </a:accent4>
      <a:accent5>
        <a:srgbClr val="984DC3"/>
      </a:accent5>
      <a:accent6>
        <a:srgbClr val="B13BAB"/>
      </a:accent6>
      <a:hlink>
        <a:srgbClr val="C7585B"/>
      </a:hlink>
      <a:folHlink>
        <a:srgbClr val="7F7F7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603</Words>
  <Application>Microsoft Office PowerPoint</Application>
  <PresentationFormat>와이드스크린</PresentationFormat>
  <Paragraphs>106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맑은 고딕</vt:lpstr>
      <vt:lpstr>Cambria Math</vt:lpstr>
      <vt:lpstr>Arial Rounded MT Bold</vt:lpstr>
      <vt:lpstr>Calibri Light</vt:lpstr>
      <vt:lpstr>Calibri</vt:lpstr>
      <vt:lpstr>a옛날목욕탕L</vt:lpstr>
      <vt:lpstr>RetrospectVTI</vt:lpstr>
      <vt:lpstr>Decision Tree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</dc:title>
  <dc:creator>양 용준</dc:creator>
  <cp:lastModifiedBy>user</cp:lastModifiedBy>
  <cp:revision>7</cp:revision>
  <dcterms:created xsi:type="dcterms:W3CDTF">2019-08-22T11:05:16Z</dcterms:created>
  <dcterms:modified xsi:type="dcterms:W3CDTF">2020-08-05T10:58:46Z</dcterms:modified>
</cp:coreProperties>
</file>