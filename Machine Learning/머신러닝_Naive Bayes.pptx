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60" r:id="rId4"/>
    <p:sldId id="259" r:id="rId5"/>
    <p:sldId id="261" r:id="rId6"/>
    <p:sldId id="262" r:id="rId7"/>
    <p:sldId id="265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3424" autoAdjust="0"/>
  </p:normalViewPr>
  <p:slideViewPr>
    <p:cSldViewPr snapToGrid="0">
      <p:cViewPr varScale="1">
        <p:scale>
          <a:sx n="55" d="100"/>
          <a:sy n="55" d="100"/>
        </p:scale>
        <p:origin x="17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394AF-3086-4E1A-9B3D-32CB56FA30F6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3D71A-146F-4FAA-B75D-00CB28FFAF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255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P(a/b) : b</a:t>
            </a:r>
            <a:r>
              <a:rPr lang="ko-KR" altLang="en-US" baseline="0" dirty="0" smtClean="0"/>
              <a:t>가 발생할 조건 중에서 </a:t>
            </a:r>
            <a:r>
              <a:rPr lang="en-US" altLang="ko-KR" baseline="0" dirty="0" smtClean="0"/>
              <a:t>A</a:t>
            </a:r>
            <a:r>
              <a:rPr lang="ko-KR" altLang="en-US" baseline="0" dirty="0" smtClean="0"/>
              <a:t>교</a:t>
            </a:r>
            <a:r>
              <a:rPr lang="en-US" altLang="ko-KR" baseline="0" dirty="0" smtClean="0"/>
              <a:t>B</a:t>
            </a:r>
            <a:r>
              <a:rPr lang="ko-KR" altLang="en-US" baseline="0" dirty="0" smtClean="0"/>
              <a:t>확률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연관성 없는 사건에서는</a:t>
            </a:r>
            <a:r>
              <a:rPr lang="en-US" altLang="ko-KR" baseline="0" dirty="0" smtClean="0"/>
              <a:t>,, </a:t>
            </a:r>
            <a:r>
              <a:rPr lang="ko-KR" altLang="en-US" baseline="0" dirty="0" smtClean="0"/>
              <a:t>즉 조건부 독립을 만족한다는 가정하에 </a:t>
            </a:r>
            <a:r>
              <a:rPr lang="en-US" altLang="ko-KR" baseline="0" dirty="0" smtClean="0"/>
              <a:t>.. </a:t>
            </a:r>
            <a:r>
              <a:rPr lang="ko-KR" altLang="en-US" baseline="0" dirty="0" smtClean="0"/>
              <a:t>즉 </a:t>
            </a:r>
            <a:r>
              <a:rPr lang="en-US" altLang="ko-KR" baseline="0" dirty="0" smtClean="0"/>
              <a:t>column </a:t>
            </a:r>
            <a:r>
              <a:rPr lang="ko-KR" altLang="en-US" baseline="0" dirty="0" smtClean="0"/>
              <a:t>하나하나가 서로 다 관계가 없다는 것</a:t>
            </a:r>
            <a:r>
              <a:rPr lang="en-US" altLang="ko-KR" baseline="0" dirty="0" smtClean="0"/>
              <a:t>. ( </a:t>
            </a:r>
            <a:r>
              <a:rPr lang="ko-KR" altLang="en-US" baseline="0" dirty="0" smtClean="0"/>
              <a:t>순수</a:t>
            </a:r>
            <a:r>
              <a:rPr lang="en-US" altLang="ko-KR" baseline="0" dirty="0" smtClean="0"/>
              <a:t>. Naïve)</a:t>
            </a:r>
          </a:p>
          <a:p>
            <a:r>
              <a:rPr lang="en-US" altLang="ko-KR" baseline="0" dirty="0" smtClean="0"/>
              <a:t>-&gt; </a:t>
            </a:r>
            <a:r>
              <a:rPr lang="ko-KR" altLang="en-US" baseline="0" dirty="0" err="1" smtClean="0"/>
              <a:t>나이브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베이즈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: </a:t>
            </a:r>
            <a:r>
              <a:rPr lang="ko-KR" altLang="en-US" baseline="0" dirty="0" smtClean="0"/>
              <a:t>단어들이 </a:t>
            </a:r>
            <a:r>
              <a:rPr lang="en-US" altLang="ko-KR" baseline="0" dirty="0" smtClean="0"/>
              <a:t>column </a:t>
            </a:r>
            <a:r>
              <a:rPr lang="ko-KR" altLang="en-US" baseline="0" dirty="0" smtClean="0"/>
              <a:t>에 와서 이 사람은 어떤 영화를 </a:t>
            </a:r>
            <a:r>
              <a:rPr lang="ko-KR" altLang="en-US" baseline="0" dirty="0" err="1" smtClean="0"/>
              <a:t>좋아할것이다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이런 식으로</a:t>
            </a:r>
            <a:r>
              <a:rPr lang="en-US" altLang="ko-KR" baseline="0" dirty="0" smtClean="0"/>
              <a:t>..</a:t>
            </a:r>
          </a:p>
          <a:p>
            <a:endParaRPr lang="en-US" altLang="ko-KR" baseline="0" dirty="0" smtClean="0"/>
          </a:p>
          <a:p>
            <a:r>
              <a:rPr lang="ko-KR" altLang="en-US" baseline="0" dirty="0" err="1" smtClean="0"/>
              <a:t>베이즈</a:t>
            </a:r>
            <a:r>
              <a:rPr lang="ko-KR" altLang="en-US" baseline="0" dirty="0" smtClean="0"/>
              <a:t> 정리 </a:t>
            </a:r>
            <a:r>
              <a:rPr lang="en-US" altLang="ko-KR" baseline="0" dirty="0" smtClean="0"/>
              <a:t>-&gt; </a:t>
            </a:r>
            <a:r>
              <a:rPr lang="ko-KR" altLang="en-US" baseline="0" dirty="0" smtClean="0"/>
              <a:t>조건부 확률과 </a:t>
            </a:r>
            <a:r>
              <a:rPr lang="ko-KR" altLang="en-US" baseline="0" dirty="0" err="1" smtClean="0"/>
              <a:t>비슷해보이는데</a:t>
            </a:r>
            <a:r>
              <a:rPr lang="en-US" altLang="ko-KR" baseline="0" dirty="0" smtClean="0"/>
              <a:t>..</a:t>
            </a:r>
          </a:p>
          <a:p>
            <a:r>
              <a:rPr lang="ko-KR" altLang="en-US" baseline="0" dirty="0" smtClean="0"/>
              <a:t>교집합은 </a:t>
            </a:r>
            <a:r>
              <a:rPr lang="ko-KR" altLang="en-US" baseline="0" dirty="0" err="1" smtClean="0"/>
              <a:t>교환법칙</a:t>
            </a:r>
            <a:r>
              <a:rPr lang="ko-KR" altLang="en-US" baseline="0" dirty="0" smtClean="0"/>
              <a:t> 성립하니까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분모를 곱해주면 날라가니 </a:t>
            </a:r>
            <a:r>
              <a:rPr lang="ko-KR" altLang="en-US" baseline="0" dirty="0" err="1" smtClean="0"/>
              <a:t>똑같아짐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따라서 </a:t>
            </a:r>
            <a:r>
              <a:rPr lang="ko-KR" altLang="en-US" baseline="0" dirty="0" err="1" smtClean="0"/>
              <a:t>베이즈</a:t>
            </a:r>
            <a:r>
              <a:rPr lang="ko-KR" altLang="en-US" baseline="0" dirty="0" smtClean="0"/>
              <a:t> 정리가 성립함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독립이 되고</a:t>
            </a:r>
            <a:r>
              <a:rPr lang="en-US" altLang="ko-KR" baseline="0" dirty="0" smtClean="0"/>
              <a:t>, </a:t>
            </a:r>
            <a:r>
              <a:rPr lang="ko-KR" altLang="en-US" baseline="0" dirty="0" err="1" smtClean="0"/>
              <a:t>베이즈정리처럼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쓸수있다</a:t>
            </a:r>
            <a:r>
              <a:rPr lang="ko-KR" altLang="en-US" baseline="0" dirty="0" smtClean="0"/>
              <a:t> 를 알아두면 됨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E3D71A-146F-4FAA-B75D-00CB28FFAF0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597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ko-KR" dirty="0" smtClean="0"/>
              <a:t>½</a:t>
            </a:r>
          </a:p>
          <a:p>
            <a:pPr marL="228600" indent="-228600">
              <a:buAutoNum type="arabicPeriod"/>
            </a:pPr>
            <a:r>
              <a:rPr lang="ko-KR" altLang="en-US" dirty="0" smtClean="0"/>
              <a:t>비가 왔을 때 지각할 확률 </a:t>
            </a:r>
            <a:r>
              <a:rPr lang="en-US" altLang="ko-KR" dirty="0" smtClean="0"/>
              <a:t>: 7/15</a:t>
            </a:r>
          </a:p>
          <a:p>
            <a:pPr marL="0" indent="0">
              <a:buNone/>
            </a:pPr>
            <a:r>
              <a:rPr lang="en-US" altLang="ko-KR" dirty="0" smtClean="0"/>
              <a:t>-&gt; 7/30 / 15/30</a:t>
            </a:r>
          </a:p>
          <a:p>
            <a:pPr marL="0" indent="0">
              <a:buNone/>
            </a:pPr>
            <a:r>
              <a:rPr lang="en-US" altLang="ko-KR" dirty="0" smtClean="0"/>
              <a:t>3. </a:t>
            </a:r>
            <a:r>
              <a:rPr lang="ko-KR" altLang="en-US" dirty="0" smtClean="0"/>
              <a:t>지각했을 때 비가 올 확률 </a:t>
            </a:r>
            <a:r>
              <a:rPr lang="en-US" altLang="ko-KR" dirty="0" smtClean="0"/>
              <a:t>: 7 / 10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E3D71A-146F-4FAA-B75D-00CB28FFAF0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19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아까 조건부확률은 다 곱한다고 했음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모든걸 다 곱할 때 파이 기호</a:t>
            </a:r>
            <a:r>
              <a:rPr lang="ko-KR" altLang="en-US" baseline="0" dirty="0" smtClean="0"/>
              <a:t> 사용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뒤에 </a:t>
            </a:r>
            <a:r>
              <a:rPr lang="en-US" altLang="ko-KR" baseline="0" dirty="0" smtClean="0"/>
              <a:t>K</a:t>
            </a:r>
            <a:r>
              <a:rPr lang="ko-KR" altLang="en-US" baseline="0" dirty="0" smtClean="0"/>
              <a:t>는 </a:t>
            </a:r>
            <a:r>
              <a:rPr lang="ko-KR" altLang="en-US" baseline="0" dirty="0" err="1" smtClean="0"/>
              <a:t>사전확률</a:t>
            </a:r>
            <a:r>
              <a:rPr lang="en-US" altLang="ko-KR" baseline="0" dirty="0" smtClean="0"/>
              <a:t>. </a:t>
            </a:r>
          </a:p>
          <a:p>
            <a:r>
              <a:rPr lang="ko-KR" altLang="en-US" baseline="0" dirty="0" smtClean="0"/>
              <a:t>다 </a:t>
            </a:r>
            <a:r>
              <a:rPr lang="ko-KR" altLang="en-US" baseline="0" dirty="0" err="1" smtClean="0"/>
              <a:t>곱하는걸로</a:t>
            </a:r>
            <a:r>
              <a:rPr lang="ko-KR" altLang="en-US" baseline="0" dirty="0" smtClean="0"/>
              <a:t> 넘어오는 이유가 </a:t>
            </a:r>
            <a:r>
              <a:rPr lang="ko-KR" altLang="en-US" baseline="0" dirty="0" err="1" smtClean="0"/>
              <a:t>조건부독립이라는</a:t>
            </a:r>
            <a:r>
              <a:rPr lang="ko-KR" altLang="en-US" baseline="0" dirty="0" smtClean="0"/>
              <a:t> 가정이 적용되었기 때문에 파이로 넘어올 수 있음</a:t>
            </a:r>
            <a:r>
              <a:rPr lang="en-US" altLang="ko-KR" baseline="0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E3D71A-146F-4FAA-B75D-00CB28FFAF0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328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날씨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바람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온도 다 독립이라고 </a:t>
            </a:r>
            <a:r>
              <a:rPr lang="ko-KR" altLang="en-US" dirty="0" err="1" smtClean="0"/>
              <a:t>가정해야지</a:t>
            </a:r>
            <a:r>
              <a:rPr lang="ko-KR" altLang="en-US" dirty="0" smtClean="0"/>
              <a:t> </a:t>
            </a:r>
            <a:r>
              <a:rPr lang="en-US" altLang="ko-KR" dirty="0" smtClean="0"/>
              <a:t>NAÏVE </a:t>
            </a:r>
            <a:r>
              <a:rPr lang="ko-KR" altLang="en-US" dirty="0" smtClean="0"/>
              <a:t>사용 가능한데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날씨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바람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온도 다 </a:t>
            </a:r>
            <a:r>
              <a:rPr lang="ko-KR" altLang="en-US" dirty="0" err="1" smtClean="0"/>
              <a:t>관련있는데</a:t>
            </a:r>
            <a:r>
              <a:rPr lang="en-US" altLang="ko-KR" dirty="0" smtClean="0"/>
              <a:t>..? 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다 독립이라고 가정하고 진행하는 것임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E3D71A-146F-4FAA-B75D-00CB28FFAF0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854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다 곱했을 때 단점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하나가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이면 다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이 되어버림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err="1" smtClean="0"/>
              <a:t>라플라스</a:t>
            </a:r>
            <a:r>
              <a:rPr lang="ko-KR" altLang="en-US" dirty="0" smtClean="0"/>
              <a:t> 정규화 </a:t>
            </a:r>
            <a:r>
              <a:rPr lang="en-US" altLang="ko-KR" dirty="0" smtClean="0"/>
              <a:t>: 0</a:t>
            </a:r>
            <a:r>
              <a:rPr lang="ko-KR" altLang="en-US" dirty="0" smtClean="0"/>
              <a:t>으로 하면 값이 사라지니 아주 </a:t>
            </a:r>
            <a:r>
              <a:rPr lang="ko-KR" altLang="en-US" dirty="0" err="1" smtClean="0"/>
              <a:t>아주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작은값으로</a:t>
            </a:r>
            <a:r>
              <a:rPr lang="ko-KR" altLang="en-US" baseline="0" dirty="0" smtClean="0"/>
              <a:t> 정규화해주어서 비슷하되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사라지지 않게 해줌</a:t>
            </a:r>
            <a:r>
              <a:rPr lang="en-US" altLang="ko-KR" baseline="0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E3D71A-146F-4FAA-B75D-00CB28FFAF0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221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정규화하지</a:t>
            </a:r>
            <a:r>
              <a:rPr lang="ko-KR" altLang="en-US" dirty="0" smtClean="0"/>
              <a:t> 않으면 기압이 높지 </a:t>
            </a:r>
            <a:r>
              <a:rPr lang="ko-KR" altLang="en-US" dirty="0" err="1" smtClean="0"/>
              <a:t>않은것이</a:t>
            </a:r>
            <a:r>
              <a:rPr lang="ko-KR" altLang="en-US" dirty="0" smtClean="0"/>
              <a:t> 하나라도 </a:t>
            </a:r>
            <a:r>
              <a:rPr lang="ko-KR" altLang="en-US" dirty="0" err="1" smtClean="0"/>
              <a:t>껴있으면</a:t>
            </a:r>
            <a:r>
              <a:rPr lang="ko-KR" altLang="en-US" dirty="0" smtClean="0"/>
              <a:t> 바로 다 </a:t>
            </a:r>
            <a:r>
              <a:rPr lang="en-US" altLang="ko-KR" dirty="0" smtClean="0"/>
              <a:t>0 </a:t>
            </a:r>
            <a:r>
              <a:rPr lang="ko-KR" altLang="en-US" dirty="0" smtClean="0"/>
              <a:t>이 되어버림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따라서 가짜 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경우에선 </a:t>
            </a:r>
            <a:r>
              <a:rPr lang="en-US" altLang="ko-KR" dirty="0" smtClean="0"/>
              <a:t>1 </a:t>
            </a:r>
            <a:r>
              <a:rPr lang="ko-KR" altLang="en-US" dirty="0" smtClean="0"/>
              <a:t>을 다 더해주어 정규화</a:t>
            </a:r>
            <a:r>
              <a:rPr lang="en-US" altLang="ko-KR" dirty="0" smtClean="0"/>
              <a:t>. (</a:t>
            </a:r>
            <a:r>
              <a:rPr lang="ko-KR" altLang="en-US" dirty="0" smtClean="0"/>
              <a:t>사실 </a:t>
            </a:r>
            <a:r>
              <a:rPr lang="en-US" altLang="ko-KR" dirty="0" smtClean="0"/>
              <a:t>1</a:t>
            </a:r>
            <a:r>
              <a:rPr lang="ko-KR" altLang="en-US" dirty="0" smtClean="0"/>
              <a:t>도 너무 큰 값임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하나로 쳐버린 것이니까</a:t>
            </a:r>
            <a:r>
              <a:rPr lang="en-US" altLang="ko-KR" dirty="0" smtClean="0"/>
              <a:t>. </a:t>
            </a:r>
            <a:r>
              <a:rPr lang="ko-KR" altLang="en-US" dirty="0" smtClean="0"/>
              <a:t>실제로는 </a:t>
            </a:r>
            <a:r>
              <a:rPr lang="en-US" altLang="ko-KR" dirty="0" smtClean="0"/>
              <a:t>0.001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등의 작은 값을 </a:t>
            </a:r>
            <a:r>
              <a:rPr lang="ko-KR" altLang="en-US" baseline="0" dirty="0" err="1" smtClean="0"/>
              <a:t>이용해야함</a:t>
            </a:r>
            <a:r>
              <a:rPr lang="en-US" altLang="ko-KR" baseline="0" dirty="0" smtClean="0"/>
              <a:t>)</a:t>
            </a:r>
          </a:p>
          <a:p>
            <a:endParaRPr lang="en-US" altLang="ko-KR" baseline="0" dirty="0" smtClean="0"/>
          </a:p>
          <a:p>
            <a:r>
              <a:rPr lang="en-US" altLang="ko-KR" baseline="0" dirty="0" smtClean="0"/>
              <a:t>-&gt; </a:t>
            </a:r>
            <a:r>
              <a:rPr lang="ko-KR" altLang="en-US" baseline="0" dirty="0" err="1" smtClean="0"/>
              <a:t>나이브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베이즈에서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라플라스</a:t>
            </a:r>
            <a:r>
              <a:rPr lang="ko-KR" altLang="en-US" baseline="0" dirty="0" smtClean="0"/>
              <a:t> 정규화는 필수</a:t>
            </a:r>
            <a:r>
              <a:rPr lang="en-US" altLang="ko-KR" baseline="0" dirty="0" smtClean="0"/>
              <a:t>! </a:t>
            </a:r>
            <a:r>
              <a:rPr lang="ko-KR" altLang="en-US" baseline="0" dirty="0" smtClean="0"/>
              <a:t>값이 사라지지 않게 하기 위해서는 무조건</a:t>
            </a:r>
            <a:r>
              <a:rPr lang="en-US" altLang="ko-KR" baseline="0" dirty="0" smtClean="0"/>
              <a:t>!!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E3D71A-146F-4FAA-B75D-00CB28FFAF0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020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나이브베이즈</a:t>
            </a:r>
            <a:r>
              <a:rPr lang="ko-KR" altLang="en-US" dirty="0" smtClean="0"/>
              <a:t> 쓰면 거의 </a:t>
            </a:r>
            <a:r>
              <a:rPr lang="ko-KR" altLang="en-US" dirty="0" err="1" smtClean="0"/>
              <a:t>텍스트마이닝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단어들이 거의 독립적이라고 할 수 있으니까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리뷰를 봤더니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재미있는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맹렬한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빠른을</a:t>
            </a:r>
            <a:r>
              <a:rPr lang="ko-KR" altLang="en-US" dirty="0" smtClean="0"/>
              <a:t> 보면 코미디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액션</a:t>
            </a:r>
            <a:r>
              <a:rPr lang="en-US" altLang="ko-KR" dirty="0" smtClean="0"/>
              <a:t>? -&gt; </a:t>
            </a:r>
            <a:r>
              <a:rPr lang="ko-KR" altLang="en-US" dirty="0" smtClean="0"/>
              <a:t>액션</a:t>
            </a:r>
            <a:r>
              <a:rPr lang="en-US" altLang="ko-KR" dirty="0" smtClean="0"/>
              <a:t>..</a:t>
            </a:r>
          </a:p>
          <a:p>
            <a:r>
              <a:rPr lang="ko-KR" altLang="en-US" dirty="0" smtClean="0"/>
              <a:t>이것도 코미디인지 액션인지 분류하는 것이니 </a:t>
            </a:r>
            <a:r>
              <a:rPr lang="en-US" altLang="ko-KR" dirty="0" smtClean="0"/>
              <a:t>Classifier.</a:t>
            </a:r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E3D71A-146F-4FAA-B75D-00CB28FFAF0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49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390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70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05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1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29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33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650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219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70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3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11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3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9BF28-9FA5-419D-9EAF-2E312C796D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14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2F6C3F-F8A6-469C-863C-722A91FE4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277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ko-KR" altLang="en-US" sz="4800" dirty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   </a:t>
            </a:r>
            <a:r>
              <a:rPr lang="en-US" altLang="ko-KR" sz="3600" dirty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Naive Bayes</a:t>
            </a:r>
            <a:endParaRPr lang="ko-KR" altLang="en-US" sz="4800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95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9D8CC-16F4-4B2B-80F0-203C56D0D2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7391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31A9CEB8-C4CE-442B-B588-F5D1400C53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2779489"/>
                  </p:ext>
                </p:extLst>
              </p:nvPr>
            </p:nvGraphicFramePr>
            <p:xfrm>
              <a:off x="904801" y="253140"/>
              <a:ext cx="10382398" cy="5692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91199">
                      <a:extLst>
                        <a:ext uri="{9D8B030D-6E8A-4147-A177-3AD203B41FA5}">
                          <a16:colId xmlns:a16="http://schemas.microsoft.com/office/drawing/2014/main" val="413183608"/>
                        </a:ext>
                      </a:extLst>
                    </a:gridCol>
                    <a:gridCol w="5191199">
                      <a:extLst>
                        <a:ext uri="{9D8B030D-6E8A-4147-A177-3AD203B41FA5}">
                          <a16:colId xmlns:a16="http://schemas.microsoft.com/office/drawing/2014/main" val="3588110334"/>
                        </a:ext>
                      </a:extLst>
                    </a:gridCol>
                  </a:tblGrid>
                  <a:tr h="95763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40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용어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40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공식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0870781"/>
                      </a:ext>
                    </a:extLst>
                  </a:tr>
                  <a:tr h="1578283">
                    <a:tc>
                      <a:txBody>
                        <a:bodyPr/>
                        <a:lstStyle/>
                        <a:p>
                          <a:pPr marL="0" indent="0" algn="ctr" latinLnBrk="1">
                            <a:lnSpc>
                              <a:spcPct val="100000"/>
                            </a:lnSpc>
                            <a:buFontTx/>
                            <a:buNone/>
                          </a:pPr>
                          <a:r>
                            <a:rPr lang="ko-KR" altLang="en-US" sz="32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조건부 확률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lnSpc>
                              <a:spcPct val="100000"/>
                            </a:lnSpc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∩</m:t>
                                    </m:r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sz="2400" dirty="0">
                            <a:latin typeface="Consolas" panose="020B0609020204030204" pitchFamily="49" charset="0"/>
                            <a:ea typeface="a옛날목욕탕L" panose="02020600000000000000" pitchFamily="18" charset="-127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6453397"/>
                      </a:ext>
                    </a:extLst>
                  </a:tr>
                  <a:tr h="1578283">
                    <a:tc>
                      <a:txBody>
                        <a:bodyPr/>
                        <a:lstStyle/>
                        <a:p>
                          <a:pPr marL="0" indent="0" algn="ctr" latinLnBrk="1">
                            <a:lnSpc>
                              <a:spcPct val="100000"/>
                            </a:lnSpc>
                            <a:buFontTx/>
                            <a:buNone/>
                          </a:pPr>
                          <a:r>
                            <a:rPr lang="ko-KR" altLang="en-US" sz="32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조건부 독립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2400" dirty="0">
                            <a:latin typeface="a옛날목욕탕L" panose="02020600000000000000" pitchFamily="18" charset="-127"/>
                            <a:ea typeface="a옛날목욕탕L" panose="02020600000000000000" pitchFamily="18" charset="-127"/>
                          </a:endParaRPr>
                        </a:p>
                        <a:p>
                          <a:pPr marL="0" indent="0" algn="ctr" latinLnBrk="1">
                            <a:lnSpc>
                              <a:spcPct val="100000"/>
                            </a:lnSpc>
                            <a:buFontTx/>
                            <a:buNone/>
                          </a:pPr>
                          <a:endParaRPr lang="ko-KR" altLang="en-US" sz="2400" dirty="0">
                            <a:latin typeface="a옛날목욕탕L" panose="02020600000000000000" pitchFamily="18" charset="-127"/>
                            <a:ea typeface="a옛날목욕탕L" panose="02020600000000000000" pitchFamily="18" charset="-127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04859674"/>
                      </a:ext>
                    </a:extLst>
                  </a:tr>
                  <a:tr h="1578283">
                    <a:tc>
                      <a:txBody>
                        <a:bodyPr/>
                        <a:lstStyle/>
                        <a:p>
                          <a:pPr marL="0" indent="0" algn="ctr" latinLnBrk="1">
                            <a:lnSpc>
                              <a:spcPct val="100000"/>
                            </a:lnSpc>
                            <a:buFontTx/>
                            <a:buNone/>
                          </a:pPr>
                          <a:r>
                            <a:rPr lang="ko-KR" altLang="en-US" sz="3200" dirty="0" err="1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베이즈</a:t>
                          </a:r>
                          <a:r>
                            <a:rPr lang="ko-KR" altLang="en-US" sz="32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 정리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lnSpc>
                              <a:spcPct val="100000"/>
                            </a:lnSpc>
                            <a:buFontTx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ko-KR" altLang="en-US" sz="24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 </a:t>
                          </a:r>
                          <a:r>
                            <a:rPr lang="en-US" altLang="ko-KR" sz="24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ko-KR" altLang="en-US" sz="2400" dirty="0">
                            <a:latin typeface="Consolas" panose="020B0609020204030204" pitchFamily="49" charset="0"/>
                            <a:ea typeface="a옛날목욕탕L" panose="02020600000000000000" pitchFamily="18" charset="-127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95555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31A9CEB8-C4CE-442B-B588-F5D1400C53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2779489"/>
                  </p:ext>
                </p:extLst>
              </p:nvPr>
            </p:nvGraphicFramePr>
            <p:xfrm>
              <a:off x="904801" y="253140"/>
              <a:ext cx="10382398" cy="5692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91199">
                      <a:extLst>
                        <a:ext uri="{9D8B030D-6E8A-4147-A177-3AD203B41FA5}">
                          <a16:colId xmlns:a16="http://schemas.microsoft.com/office/drawing/2014/main" val="413183608"/>
                        </a:ext>
                      </a:extLst>
                    </a:gridCol>
                    <a:gridCol w="5191199">
                      <a:extLst>
                        <a:ext uri="{9D8B030D-6E8A-4147-A177-3AD203B41FA5}">
                          <a16:colId xmlns:a16="http://schemas.microsoft.com/office/drawing/2014/main" val="3588110334"/>
                        </a:ext>
                      </a:extLst>
                    </a:gridCol>
                  </a:tblGrid>
                  <a:tr h="95763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40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용어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40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공식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0870781"/>
                      </a:ext>
                    </a:extLst>
                  </a:tr>
                  <a:tr h="1578283">
                    <a:tc>
                      <a:txBody>
                        <a:bodyPr/>
                        <a:lstStyle/>
                        <a:p>
                          <a:pPr marL="0" indent="0" algn="ctr" latinLnBrk="1">
                            <a:lnSpc>
                              <a:spcPct val="100000"/>
                            </a:lnSpc>
                            <a:buFontTx/>
                            <a:buNone/>
                          </a:pPr>
                          <a:r>
                            <a:rPr lang="ko-KR" altLang="en-US" sz="32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조건부 확률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17" t="-66923" r="-46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6453397"/>
                      </a:ext>
                    </a:extLst>
                  </a:tr>
                  <a:tr h="1578283">
                    <a:tc>
                      <a:txBody>
                        <a:bodyPr/>
                        <a:lstStyle/>
                        <a:p>
                          <a:pPr marL="0" indent="0" algn="ctr" latinLnBrk="1">
                            <a:lnSpc>
                              <a:spcPct val="100000"/>
                            </a:lnSpc>
                            <a:buFontTx/>
                            <a:buNone/>
                          </a:pPr>
                          <a:r>
                            <a:rPr lang="ko-KR" altLang="en-US" sz="32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조건부 독립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17" t="-167568" r="-469" b="-1007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4859674"/>
                      </a:ext>
                    </a:extLst>
                  </a:tr>
                  <a:tr h="1578283">
                    <a:tc>
                      <a:txBody>
                        <a:bodyPr/>
                        <a:lstStyle/>
                        <a:p>
                          <a:pPr marL="0" indent="0" algn="ctr" latinLnBrk="1">
                            <a:lnSpc>
                              <a:spcPct val="100000"/>
                            </a:lnSpc>
                            <a:buFontTx/>
                            <a:buNone/>
                          </a:pPr>
                          <a:r>
                            <a:rPr lang="ko-KR" altLang="en-US" sz="3200" dirty="0" err="1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베이즈</a:t>
                          </a:r>
                          <a:r>
                            <a:rPr lang="ko-KR" altLang="en-US" sz="3200" dirty="0">
                              <a:latin typeface="a옛날목욕탕L" panose="02020600000000000000" pitchFamily="18" charset="-127"/>
                              <a:ea typeface="a옛날목욕탕L" panose="02020600000000000000" pitchFamily="18" charset="-127"/>
                            </a:rPr>
                            <a:t> 정리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17" t="-267568" r="-469" b="-7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95555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7484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C249C1-A084-4145-AF39-9302DE52D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346603"/>
              </p:ext>
            </p:extLst>
          </p:nvPr>
        </p:nvGraphicFramePr>
        <p:xfrm>
          <a:off x="1603375" y="450532"/>
          <a:ext cx="8440740" cy="2692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10185">
                  <a:extLst>
                    <a:ext uri="{9D8B030D-6E8A-4147-A177-3AD203B41FA5}">
                      <a16:colId xmlns:a16="http://schemas.microsoft.com/office/drawing/2014/main" val="2395405271"/>
                    </a:ext>
                  </a:extLst>
                </a:gridCol>
                <a:gridCol w="2110185">
                  <a:extLst>
                    <a:ext uri="{9D8B030D-6E8A-4147-A177-3AD203B41FA5}">
                      <a16:colId xmlns:a16="http://schemas.microsoft.com/office/drawing/2014/main" val="3787286650"/>
                    </a:ext>
                  </a:extLst>
                </a:gridCol>
                <a:gridCol w="2110185">
                  <a:extLst>
                    <a:ext uri="{9D8B030D-6E8A-4147-A177-3AD203B41FA5}">
                      <a16:colId xmlns:a16="http://schemas.microsoft.com/office/drawing/2014/main" val="2041832701"/>
                    </a:ext>
                  </a:extLst>
                </a:gridCol>
                <a:gridCol w="2110185">
                  <a:extLst>
                    <a:ext uri="{9D8B030D-6E8A-4147-A177-3AD203B41FA5}">
                      <a16:colId xmlns:a16="http://schemas.microsoft.com/office/drawing/2014/main" val="296245778"/>
                    </a:ext>
                  </a:extLst>
                </a:gridCol>
              </a:tblGrid>
              <a:tr h="538544"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1</a:t>
                      </a:r>
                      <a:r>
                        <a:rPr lang="ko-KR" altLang="en-US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교시 지각 여부</a:t>
                      </a:r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?</a:t>
                      </a:r>
                      <a:r>
                        <a:rPr lang="ko-KR" altLang="en-US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147681"/>
                  </a:ext>
                </a:extLst>
              </a:tr>
              <a:tr h="538544"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지각 </a:t>
                      </a:r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X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지각 </a:t>
                      </a:r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O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17680"/>
                  </a:ext>
                </a:extLst>
              </a:tr>
              <a:tr h="5385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비</a:t>
                      </a:r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O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8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7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15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387994"/>
                  </a:ext>
                </a:extLst>
              </a:tr>
              <a:tr h="5385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비</a:t>
                      </a:r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X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12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3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15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650984"/>
                  </a:ext>
                </a:extLst>
              </a:tr>
              <a:tr h="538544"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20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10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30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4213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E76C17-649C-43CC-8E7D-0FFAB797F39B}"/>
                  </a:ext>
                </a:extLst>
              </p:cNvPr>
              <p:cNvSpPr txBox="1"/>
              <p:nvPr/>
            </p:nvSpPr>
            <p:spPr>
              <a:xfrm>
                <a:off x="904460" y="3714749"/>
                <a:ext cx="1596591" cy="486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800" i="1">
                              <a:latin typeface="Cambria Math" panose="02040503050406030204" pitchFamily="18" charset="0"/>
                            </a:rPr>
                            <m:t>비</m:t>
                          </m:r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</m:d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ko-KR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E76C17-649C-43CC-8E7D-0FFAB797F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60" y="3714749"/>
                <a:ext cx="1596591" cy="486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BF1155C5-3798-4920-AFFF-271ABE801286}"/>
                  </a:ext>
                </a:extLst>
              </p:cNvPr>
              <p:cNvSpPr/>
              <p:nvPr/>
            </p:nvSpPr>
            <p:spPr>
              <a:xfrm>
                <a:off x="800635" y="4483255"/>
                <a:ext cx="3021148" cy="578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800" i="1">
                              <a:latin typeface="Cambria Math" panose="02040503050406030204" pitchFamily="18" charset="0"/>
                            </a:rPr>
                            <m:t>지</m:t>
                          </m:r>
                          <m:r>
                            <a:rPr lang="ko-KR" altLang="en-US" sz="2800" i="1" smtClean="0">
                              <a:latin typeface="Cambria Math" panose="02040503050406030204" pitchFamily="18" charset="0"/>
                            </a:rPr>
                            <m:t>각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ko-KR" altLang="en-US" sz="2800" i="1">
                              <a:latin typeface="Cambria Math" panose="02040503050406030204" pitchFamily="18" charset="0"/>
                            </a:rPr>
                            <m:t>비</m:t>
                          </m:r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</m:d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ko-KR" sz="2800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BF1155C5-3798-4920-AFFF-271ABE8012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35" y="4483255"/>
                <a:ext cx="3021148" cy="57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13585297-F952-4ABA-BEEA-8B0CEF596E00}"/>
                  </a:ext>
                </a:extLst>
              </p:cNvPr>
              <p:cNvSpPr/>
              <p:nvPr/>
            </p:nvSpPr>
            <p:spPr>
              <a:xfrm>
                <a:off x="800635" y="5344094"/>
                <a:ext cx="3021148" cy="578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800" i="1">
                              <a:latin typeface="Cambria Math" panose="02040503050406030204" pitchFamily="18" charset="0"/>
                            </a:rPr>
                            <m:t>비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ko-KR" altLang="en-US" sz="2800" i="1">
                              <a:latin typeface="Cambria Math" panose="02040503050406030204" pitchFamily="18" charset="0"/>
                            </a:rPr>
                            <m:t>지</m:t>
                          </m:r>
                          <m:r>
                            <a:rPr lang="ko-KR" altLang="en-US" sz="2800" i="1" smtClean="0">
                              <a:latin typeface="Cambria Math" panose="02040503050406030204" pitchFamily="18" charset="0"/>
                            </a:rPr>
                            <m:t>각</m:t>
                          </m:r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</m:d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ko-KR" sz="2800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13585297-F952-4ABA-BEEA-8B0CEF596E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35" y="5344094"/>
                <a:ext cx="3021148" cy="5786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6529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CFE34C-73C1-42C1-BFD8-DEC49D5F6427}"/>
              </a:ext>
            </a:extLst>
          </p:cNvPr>
          <p:cNvSpPr txBox="1"/>
          <p:nvPr/>
        </p:nvSpPr>
        <p:spPr>
          <a:xfrm>
            <a:off x="790574" y="700088"/>
            <a:ext cx="1110138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800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나이즈베이즈</a:t>
            </a:r>
            <a:r>
              <a:rPr lang="ko-KR" altLang="en-US" sz="3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분류모형에서는 </a:t>
            </a:r>
            <a:endParaRPr lang="en-US" altLang="ko-KR" sz="3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r>
              <a:rPr lang="ko-KR" altLang="en-US" sz="3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모든 차원의 개별 독립변수가 서로 조건부독립이라는 가정을 사용한다</a:t>
            </a:r>
            <a:r>
              <a:rPr lang="en-US" altLang="ko-KR" sz="3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. </a:t>
            </a:r>
          </a:p>
          <a:p>
            <a:r>
              <a:rPr lang="ko-KR" altLang="en-US" sz="3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이러한 가정을 </a:t>
            </a:r>
            <a:r>
              <a:rPr lang="ko-KR" altLang="en-US" sz="3800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나이브</a:t>
            </a:r>
            <a:r>
              <a:rPr lang="ko-KR" altLang="en-US" sz="3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가정이라고 한다</a:t>
            </a:r>
            <a:r>
              <a:rPr lang="en-US" altLang="ko-KR" sz="3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.</a:t>
            </a:r>
            <a:endParaRPr lang="ko-KR" altLang="en-US" sz="3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928A23-5544-4C14-854B-4E6A7868A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305" y="3086289"/>
            <a:ext cx="9337390" cy="275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1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CFC056-D569-4C47-936E-3399A3537A81}"/>
              </a:ext>
            </a:extLst>
          </p:cNvPr>
          <p:cNvSpPr txBox="1"/>
          <p:nvPr/>
        </p:nvSpPr>
        <p:spPr>
          <a:xfrm>
            <a:off x="1569415" y="4087698"/>
            <a:ext cx="1030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날씨가 좋고</a:t>
            </a:r>
            <a:r>
              <a:rPr lang="en-US" altLang="ko-KR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, </a:t>
            </a: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바람이 많이 불지 않고</a:t>
            </a:r>
            <a:r>
              <a:rPr lang="en-US" altLang="ko-KR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, </a:t>
            </a: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기압은 높고</a:t>
            </a:r>
            <a:r>
              <a:rPr lang="en-US" altLang="ko-KR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, </a:t>
            </a: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온도가 높다면 비가 </a:t>
            </a:r>
            <a:r>
              <a:rPr lang="ko-KR" altLang="en-US" sz="2400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올것인가</a:t>
            </a: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</a:t>
            </a:r>
            <a:r>
              <a:rPr lang="ko-KR" altLang="en-US" sz="2400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안올것인가</a:t>
            </a:r>
            <a:r>
              <a:rPr lang="en-US" altLang="ko-KR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?</a:t>
            </a:r>
            <a:endParaRPr lang="ko-KR" altLang="en-US" sz="24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50C29F-86BC-4181-8368-534301F92803}"/>
                  </a:ext>
                </a:extLst>
              </p:cNvPr>
              <p:cNvSpPr txBox="1"/>
              <p:nvPr/>
            </p:nvSpPr>
            <p:spPr>
              <a:xfrm>
                <a:off x="2016009" y="4982065"/>
                <a:ext cx="3699346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비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날</m:t>
                    </m:r>
                  </m:oMath>
                </a14:m>
                <a:r>
                  <a:rPr lang="ko-KR" altLang="en-US" dirty="0"/>
                  <a:t>씨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~</a:t>
                </a:r>
                <a:r>
                  <a:rPr lang="ko-KR" altLang="en-US" dirty="0"/>
                  <a:t>바람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기압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온도</a:t>
                </a:r>
                <a:r>
                  <a:rPr lang="en-US" altLang="ko-KR" dirty="0"/>
                  <a:t>) 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50C29F-86BC-4181-8368-534301F92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009" y="4982065"/>
                <a:ext cx="3699346" cy="312650"/>
              </a:xfrm>
              <a:prstGeom prst="rect">
                <a:avLst/>
              </a:prstGeom>
              <a:blipFill>
                <a:blip r:embed="rId3"/>
                <a:stretch>
                  <a:fillRect l="-2306" t="-21154" b="-40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BA99A5-5F82-44B7-B362-63E93FC50C0B}"/>
                  </a:ext>
                </a:extLst>
              </p:cNvPr>
              <p:cNvSpPr txBox="1"/>
              <p:nvPr/>
            </p:nvSpPr>
            <p:spPr>
              <a:xfrm>
                <a:off x="6476646" y="4982065"/>
                <a:ext cx="3864456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비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날</m:t>
                    </m:r>
                  </m:oMath>
                </a14:m>
                <a:r>
                  <a:rPr lang="ko-KR" altLang="en-US" dirty="0"/>
                  <a:t>씨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~</a:t>
                </a:r>
                <a:r>
                  <a:rPr lang="ko-KR" altLang="en-US" dirty="0"/>
                  <a:t>바람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기압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온도</a:t>
                </a:r>
                <a:r>
                  <a:rPr lang="en-US" altLang="ko-KR" dirty="0"/>
                  <a:t>) 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BA99A5-5F82-44B7-B362-63E93FC50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646" y="4982065"/>
                <a:ext cx="3864456" cy="312650"/>
              </a:xfrm>
              <a:prstGeom prst="rect">
                <a:avLst/>
              </a:prstGeom>
              <a:blipFill>
                <a:blip r:embed="rId4"/>
                <a:stretch>
                  <a:fillRect l="-2050" t="-21154" b="-40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BED083E3-C9CD-4566-8C3E-2F6E8A117B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61" y="521270"/>
            <a:ext cx="10971977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49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A9BD36-165B-478B-86E3-E1F3222BA5BD}"/>
              </a:ext>
            </a:extLst>
          </p:cNvPr>
          <p:cNvSpPr txBox="1"/>
          <p:nvPr/>
        </p:nvSpPr>
        <p:spPr>
          <a:xfrm>
            <a:off x="1177637" y="757238"/>
            <a:ext cx="89920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라플라스</a:t>
            </a:r>
            <a:r>
              <a:rPr lang="ko-KR" altLang="en-US" sz="4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정규화</a:t>
            </a:r>
            <a:r>
              <a:rPr lang="en-US" altLang="ko-KR" sz="4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(Laplace Smoothing)</a:t>
            </a:r>
            <a:endParaRPr lang="ko-KR" altLang="en-US" sz="4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2314AB-02D8-4038-B7D4-4E8B5F7F873C}"/>
              </a:ext>
            </a:extLst>
          </p:cNvPr>
          <p:cNvSpPr/>
          <p:nvPr/>
        </p:nvSpPr>
        <p:spPr>
          <a:xfrm>
            <a:off x="1047749" y="1930777"/>
            <a:ext cx="10096501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클래스와 특성의 값이 훈련 데이터에서 발생 하지 않는 경우에</a:t>
            </a:r>
            <a:r>
              <a:rPr lang="en-US" altLang="ko-KR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 </a:t>
            </a:r>
          </a:p>
          <a:p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빈도수 기반의 확률 추정치는 </a:t>
            </a:r>
            <a:r>
              <a:rPr lang="en-US" altLang="ko-KR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0</a:t>
            </a:r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이 된다</a:t>
            </a:r>
            <a:r>
              <a:rPr lang="en-US" altLang="ko-KR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. </a:t>
            </a:r>
          </a:p>
          <a:p>
            <a:endParaRPr lang="en-US" altLang="ko-KR" sz="2800" b="0" i="0" dirty="0">
              <a:solidFill>
                <a:srgbClr val="222222"/>
              </a:solidFill>
              <a:effectLst/>
              <a:latin typeface="KBIZ한마음고딕 M" panose="02020503020101020101" pitchFamily="18" charset="-127"/>
              <a:ea typeface="KBIZ한마음고딕 M" panose="02020503020101020101" pitchFamily="18" charset="-127"/>
            </a:endParaRPr>
          </a:p>
          <a:p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이것은 이 추정치가 곱해질 때 다른 확률의 모든 정보를 무시한다</a:t>
            </a:r>
            <a:endParaRPr lang="en-US" altLang="ko-KR" sz="2800" b="0" i="0" dirty="0">
              <a:solidFill>
                <a:srgbClr val="222222"/>
              </a:solidFill>
              <a:effectLst/>
              <a:latin typeface="KBIZ한마음고딕 M" panose="02020503020101020101" pitchFamily="18" charset="-127"/>
              <a:ea typeface="KBIZ한마음고딕 M" panose="02020503020101020101" pitchFamily="18" charset="-127"/>
            </a:endParaRPr>
          </a:p>
          <a:p>
            <a:endParaRPr lang="en-US" altLang="ko-KR" sz="2800" b="0" i="0" dirty="0">
              <a:solidFill>
                <a:srgbClr val="222222"/>
              </a:solidFill>
              <a:effectLst/>
              <a:latin typeface="KBIZ한마음고딕 M" panose="02020503020101020101" pitchFamily="18" charset="-127"/>
              <a:ea typeface="KBIZ한마음고딕 M" panose="02020503020101020101" pitchFamily="18" charset="-127"/>
            </a:endParaRPr>
          </a:p>
          <a:p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따라서</a:t>
            </a:r>
            <a:r>
              <a:rPr lang="en-US" altLang="ko-KR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, </a:t>
            </a:r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대부분의 확률 추정에서는 그 값이 </a:t>
            </a:r>
            <a:r>
              <a:rPr lang="en-US" altLang="ko-KR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0</a:t>
            </a:r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이 되지 않도록 가짜 수라는 작은 샘플 </a:t>
            </a:r>
            <a:r>
              <a:rPr lang="ko-KR" altLang="en-US" sz="2800" b="0" i="0" dirty="0" err="1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보정값을</a:t>
            </a:r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 통합하여 사용한다</a:t>
            </a:r>
            <a:endParaRPr lang="en-US" altLang="ko-KR" sz="2800" b="0" i="0" dirty="0">
              <a:solidFill>
                <a:srgbClr val="222222"/>
              </a:solidFill>
              <a:effectLst/>
              <a:latin typeface="KBIZ한마음고딕 M" panose="02020503020101020101" pitchFamily="18" charset="-127"/>
              <a:ea typeface="KBIZ한마음고딕 M" panose="02020503020101020101" pitchFamily="18" charset="-127"/>
            </a:endParaRPr>
          </a:p>
          <a:p>
            <a:endParaRPr lang="en-US" altLang="ko-KR" sz="2400" b="0" i="0" dirty="0">
              <a:solidFill>
                <a:srgbClr val="222222"/>
              </a:solidFill>
              <a:effectLst/>
              <a:latin typeface="KBIZ한마음고딕 M" panose="02020503020101020101" pitchFamily="18" charset="-127"/>
              <a:ea typeface="KBIZ한마음고딕 M" panose="02020503020101020101" pitchFamily="18" charset="-127"/>
            </a:endParaRPr>
          </a:p>
          <a:p>
            <a:r>
              <a:rPr lang="ko-KR" altLang="en-US" sz="2800" b="0" i="0" dirty="0" err="1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나이브</a:t>
            </a:r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 </a:t>
            </a:r>
            <a:r>
              <a:rPr lang="ko-KR" altLang="en-US" sz="2800" b="0" i="0" dirty="0" err="1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베이즈의</a:t>
            </a:r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 이러한 정규화 방법은 가짜 수</a:t>
            </a:r>
            <a:r>
              <a:rPr lang="ko-KR" altLang="en-US" sz="2800" dirty="0">
                <a:solidFill>
                  <a:srgbClr val="222222"/>
                </a:solidFill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가 </a:t>
            </a:r>
            <a:r>
              <a:rPr lang="en-US" altLang="ko-KR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1</a:t>
            </a:r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일 경우 </a:t>
            </a:r>
            <a:r>
              <a:rPr lang="ko-KR" altLang="en-US" sz="2800" b="0" i="0" dirty="0" err="1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라플라스</a:t>
            </a:r>
            <a:r>
              <a:rPr lang="ko-KR" altLang="en-US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 정규화라고 한다</a:t>
            </a:r>
            <a:r>
              <a:rPr lang="en-US" altLang="ko-KR" sz="2800" b="0" i="0" dirty="0">
                <a:solidFill>
                  <a:srgbClr val="222222"/>
                </a:solidFill>
                <a:effectLst/>
                <a:latin typeface="KBIZ한마음고딕 M" panose="02020503020101020101" pitchFamily="18" charset="-127"/>
                <a:ea typeface="KBIZ한마음고딕 M" panose="02020503020101020101" pitchFamily="18" charset="-127"/>
              </a:rPr>
              <a:t>.</a:t>
            </a:r>
            <a:endParaRPr lang="ko-KR" altLang="en-US" sz="2800" b="1" dirty="0">
              <a:solidFill>
                <a:srgbClr val="000000"/>
              </a:solidFill>
              <a:latin typeface="KBIZ한마음고딕 M" panose="02020503020101020101" pitchFamily="18" charset="-127"/>
              <a:ea typeface="KBIZ한마음고딕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3468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CFC056-D569-4C47-936E-3399A3537A81}"/>
              </a:ext>
            </a:extLst>
          </p:cNvPr>
          <p:cNvSpPr txBox="1"/>
          <p:nvPr/>
        </p:nvSpPr>
        <p:spPr>
          <a:xfrm>
            <a:off x="1569415" y="4087698"/>
            <a:ext cx="1030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날씨가 좋고</a:t>
            </a:r>
            <a:r>
              <a:rPr lang="en-US" altLang="ko-KR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, </a:t>
            </a: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바람이 많이 불지 않고</a:t>
            </a:r>
            <a:r>
              <a:rPr lang="en-US" altLang="ko-KR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, </a:t>
            </a: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기압은 낮고</a:t>
            </a:r>
            <a:r>
              <a:rPr lang="en-US" altLang="ko-KR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, </a:t>
            </a: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온도가 높다면 비가 </a:t>
            </a:r>
            <a:r>
              <a:rPr lang="ko-KR" altLang="en-US" sz="2400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올것인가</a:t>
            </a: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</a:t>
            </a:r>
            <a:r>
              <a:rPr lang="ko-KR" altLang="en-US" sz="2400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안올것인가</a:t>
            </a:r>
            <a:r>
              <a:rPr lang="en-US" altLang="ko-KR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?</a:t>
            </a:r>
            <a:endParaRPr lang="ko-KR" altLang="en-US" sz="24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50C29F-86BC-4181-8368-534301F92803}"/>
                  </a:ext>
                </a:extLst>
              </p:cNvPr>
              <p:cNvSpPr txBox="1"/>
              <p:nvPr/>
            </p:nvSpPr>
            <p:spPr>
              <a:xfrm>
                <a:off x="2016009" y="4982065"/>
                <a:ext cx="3699346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비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날</m:t>
                    </m:r>
                  </m:oMath>
                </a14:m>
                <a:r>
                  <a:rPr lang="ko-KR" altLang="en-US" dirty="0"/>
                  <a:t>씨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~</a:t>
                </a:r>
                <a:r>
                  <a:rPr lang="ko-KR" altLang="en-US" dirty="0"/>
                  <a:t>바람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~</a:t>
                </a:r>
                <a:r>
                  <a:rPr lang="ko-KR" altLang="en-US" dirty="0"/>
                  <a:t>기압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온도</a:t>
                </a:r>
                <a:r>
                  <a:rPr lang="en-US" altLang="ko-KR" dirty="0"/>
                  <a:t>) 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50C29F-86BC-4181-8368-534301F92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009" y="4982065"/>
                <a:ext cx="3699346" cy="312650"/>
              </a:xfrm>
              <a:prstGeom prst="rect">
                <a:avLst/>
              </a:prstGeom>
              <a:blipFill>
                <a:blip r:embed="rId3"/>
                <a:stretch>
                  <a:fillRect l="-2306" t="-21154" r="-2965" b="-40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BA99A5-5F82-44B7-B362-63E93FC50C0B}"/>
                  </a:ext>
                </a:extLst>
              </p:cNvPr>
              <p:cNvSpPr txBox="1"/>
              <p:nvPr/>
            </p:nvSpPr>
            <p:spPr>
              <a:xfrm>
                <a:off x="6476646" y="4982065"/>
                <a:ext cx="3864456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비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날</m:t>
                    </m:r>
                  </m:oMath>
                </a14:m>
                <a:r>
                  <a:rPr lang="ko-KR" altLang="en-US" dirty="0"/>
                  <a:t>씨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~</a:t>
                </a:r>
                <a:r>
                  <a:rPr lang="ko-KR" altLang="en-US" dirty="0"/>
                  <a:t>바람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~</a:t>
                </a:r>
                <a:r>
                  <a:rPr lang="ko-KR" altLang="en-US" dirty="0"/>
                  <a:t>기압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온도</a:t>
                </a:r>
                <a:r>
                  <a:rPr lang="en-US" altLang="ko-KR" dirty="0"/>
                  <a:t>) 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BA99A5-5F82-44B7-B362-63E93FC50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646" y="4982065"/>
                <a:ext cx="3864456" cy="312650"/>
              </a:xfrm>
              <a:prstGeom prst="rect">
                <a:avLst/>
              </a:prstGeom>
              <a:blipFill>
                <a:blip r:embed="rId4"/>
                <a:stretch>
                  <a:fillRect l="-2050" t="-21154" r="-2997" b="-40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9C9843C4-5643-4DB0-B157-E8933BCA5A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15" y="528639"/>
            <a:ext cx="11134209" cy="312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42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B629BB-2692-4CBD-B195-8975EA1D4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422621"/>
              </p:ext>
            </p:extLst>
          </p:nvPr>
        </p:nvGraphicFramePr>
        <p:xfrm>
          <a:off x="700087" y="719666"/>
          <a:ext cx="10815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955">
                  <a:extLst>
                    <a:ext uri="{9D8B030D-6E8A-4147-A177-3AD203B41FA5}">
                      <a16:colId xmlns:a16="http://schemas.microsoft.com/office/drawing/2014/main" val="563896630"/>
                    </a:ext>
                  </a:extLst>
                </a:gridCol>
                <a:gridCol w="1351955">
                  <a:extLst>
                    <a:ext uri="{9D8B030D-6E8A-4147-A177-3AD203B41FA5}">
                      <a16:colId xmlns:a16="http://schemas.microsoft.com/office/drawing/2014/main" val="943857558"/>
                    </a:ext>
                  </a:extLst>
                </a:gridCol>
                <a:gridCol w="1351955">
                  <a:extLst>
                    <a:ext uri="{9D8B030D-6E8A-4147-A177-3AD203B41FA5}">
                      <a16:colId xmlns:a16="http://schemas.microsoft.com/office/drawing/2014/main" val="1710368581"/>
                    </a:ext>
                  </a:extLst>
                </a:gridCol>
                <a:gridCol w="1351955">
                  <a:extLst>
                    <a:ext uri="{9D8B030D-6E8A-4147-A177-3AD203B41FA5}">
                      <a16:colId xmlns:a16="http://schemas.microsoft.com/office/drawing/2014/main" val="623660122"/>
                    </a:ext>
                  </a:extLst>
                </a:gridCol>
                <a:gridCol w="1351955">
                  <a:extLst>
                    <a:ext uri="{9D8B030D-6E8A-4147-A177-3AD203B41FA5}">
                      <a16:colId xmlns:a16="http://schemas.microsoft.com/office/drawing/2014/main" val="3611035149"/>
                    </a:ext>
                  </a:extLst>
                </a:gridCol>
                <a:gridCol w="1351955">
                  <a:extLst>
                    <a:ext uri="{9D8B030D-6E8A-4147-A177-3AD203B41FA5}">
                      <a16:colId xmlns:a16="http://schemas.microsoft.com/office/drawing/2014/main" val="2995601541"/>
                    </a:ext>
                  </a:extLst>
                </a:gridCol>
                <a:gridCol w="1351955">
                  <a:extLst>
                    <a:ext uri="{9D8B030D-6E8A-4147-A177-3AD203B41FA5}">
                      <a16:colId xmlns:a16="http://schemas.microsoft.com/office/drawing/2014/main" val="4272829941"/>
                    </a:ext>
                  </a:extLst>
                </a:gridCol>
                <a:gridCol w="1351955">
                  <a:extLst>
                    <a:ext uri="{9D8B030D-6E8A-4147-A177-3AD203B41FA5}">
                      <a16:colId xmlns:a16="http://schemas.microsoft.com/office/drawing/2014/main" val="3251234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재미있는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연인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맹렬한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빠른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총격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err="1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날으는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96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코미디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358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액션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22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코미디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811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액션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62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액션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24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996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A43B4E7-DA85-419A-9DAB-B6127212AC93}"/>
              </a:ext>
            </a:extLst>
          </p:cNvPr>
          <p:cNvSpPr txBox="1"/>
          <p:nvPr/>
        </p:nvSpPr>
        <p:spPr>
          <a:xfrm>
            <a:off x="2868653" y="3991633"/>
            <a:ext cx="6478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재미있는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맹렬한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빠른이라는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단어가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나올경우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코미디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or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액션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828839-37CF-47BD-8F41-3A1BB6C5A5F6}"/>
                  </a:ext>
                </a:extLst>
              </p:cNvPr>
              <p:cNvSpPr txBox="1"/>
              <p:nvPr/>
            </p:nvSpPr>
            <p:spPr>
              <a:xfrm>
                <a:off x="2016009" y="4982065"/>
                <a:ext cx="4002314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코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미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디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재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미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있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는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맹렬한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빠른 </a:t>
                </a:r>
                <a:r>
                  <a:rPr lang="en-US" altLang="ko-KR" dirty="0"/>
                  <a:t>) 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828839-37CF-47BD-8F41-3A1BB6C5A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009" y="4982065"/>
                <a:ext cx="4002314" cy="312650"/>
              </a:xfrm>
              <a:prstGeom prst="rect">
                <a:avLst/>
              </a:prstGeom>
              <a:blipFill>
                <a:blip r:embed="rId3"/>
                <a:stretch>
                  <a:fillRect l="-2134" t="-21154" r="-2744" b="-40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F90703-E8B2-40CA-8E6A-230E9249F5E5}"/>
                  </a:ext>
                </a:extLst>
              </p:cNvPr>
              <p:cNvSpPr txBox="1"/>
              <p:nvPr/>
            </p:nvSpPr>
            <p:spPr>
              <a:xfrm>
                <a:off x="6476646" y="4982065"/>
                <a:ext cx="3771482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액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션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재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미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있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는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맹렬한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빠른 </a:t>
                </a:r>
                <a:r>
                  <a:rPr lang="en-US" altLang="ko-KR" dirty="0"/>
                  <a:t>) 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F90703-E8B2-40CA-8E6A-230E9249F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646" y="4982065"/>
                <a:ext cx="3771482" cy="312650"/>
              </a:xfrm>
              <a:prstGeom prst="rect">
                <a:avLst/>
              </a:prstGeom>
              <a:blipFill>
                <a:blip r:embed="rId4"/>
                <a:stretch>
                  <a:fillRect l="-2100" t="-21154" r="-3069" b="-40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850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241"/>
      </a:dk2>
      <a:lt2>
        <a:srgbClr val="E8E2E2"/>
      </a:lt2>
      <a:accent1>
        <a:srgbClr val="45AFAC"/>
      </a:accent1>
      <a:accent2>
        <a:srgbClr val="3B84B1"/>
      </a:accent2>
      <a:accent3>
        <a:srgbClr val="4D64C3"/>
      </a:accent3>
      <a:accent4>
        <a:srgbClr val="634CB8"/>
      </a:accent4>
      <a:accent5>
        <a:srgbClr val="984DC3"/>
      </a:accent5>
      <a:accent6>
        <a:srgbClr val="B13BAB"/>
      </a:accent6>
      <a:hlink>
        <a:srgbClr val="C7585B"/>
      </a:hlink>
      <a:folHlink>
        <a:srgbClr val="7F7F7F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523</Words>
  <Application>Microsoft Office PowerPoint</Application>
  <PresentationFormat>와이드스크린</PresentationFormat>
  <Paragraphs>131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a옛날목욕탕L</vt:lpstr>
      <vt:lpstr>KBIZ한마음고딕 M</vt:lpstr>
      <vt:lpstr>나눔스퀘어 Bold</vt:lpstr>
      <vt:lpstr>맑은 고딕</vt:lpstr>
      <vt:lpstr>Calibri</vt:lpstr>
      <vt:lpstr>Calibri Light</vt:lpstr>
      <vt:lpstr>Cambria Math</vt:lpstr>
      <vt:lpstr>Consolas</vt:lpstr>
      <vt:lpstr>RetrospectVTI</vt:lpstr>
      <vt:lpstr>   Naive Bayes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머신러닝</dc:title>
  <dc:creator>양 용준</dc:creator>
  <cp:lastModifiedBy>user</cp:lastModifiedBy>
  <cp:revision>17</cp:revision>
  <dcterms:created xsi:type="dcterms:W3CDTF">2019-08-14T05:49:11Z</dcterms:created>
  <dcterms:modified xsi:type="dcterms:W3CDTF">2020-07-29T11:01:26Z</dcterms:modified>
</cp:coreProperties>
</file>